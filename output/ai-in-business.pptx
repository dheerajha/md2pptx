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Market Size ($B)</c:v>
                </c:pt>
              </c:strCache>
            </c:strRef>
          </c:tx>
          <c:spPr>
            <a:solidFill>
              <a:srgbClr val="00BCD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2020</c:v>
                  </c:pt>
                  <c:pt idx="1">
                    <c:v>2021</c:v>
                  </c:pt>
                  <c:pt idx="2">
                    <c:v>2022</c:v>
                  </c:pt>
                  <c:pt idx="3">
                    <c:v>2023</c:v>
                  </c:pt>
                  <c:pt idx="4">
                    <c:v>2024</c:v>
                  </c:pt>
                  <c:pt idx="5">
                    <c:v>2025</c:v>
                  </c:pt>
                </c:lvl>
              </c:multiLvlStrCache>
            </c:multiLvlStrRef>
          </c:cat>
          <c:val>
            <c:numRef>
              <c:f>Sheet1!$B$2:$B$7</c:f>
              <c:numCache>
                <c:formatCode>General</c:formatCode>
                <c:ptCount val="6"/>
                <c:pt idx="0">
                  <c:v>47</c:v>
                </c:pt>
                <c:pt idx="1">
                  <c:v>68</c:v>
                </c:pt>
                <c:pt idx="2">
                  <c:v>95</c:v>
                </c:pt>
                <c:pt idx="3">
                  <c:v>142</c:v>
                </c:pt>
                <c:pt idx="4">
                  <c:v>196</c:v>
                </c:pt>
                <c:pt idx="5">
                  <c:v>267</c:v>
                </c:pt>
              </c:numCache>
            </c:numRef>
          </c:val>
        </c:ser>
        <c:ser>
          <c:idx val="1"/>
          <c:order val="1"/>
          <c:tx>
            <c:strRef>
              <c:f>Sheet1!$C$1</c:f>
              <c:strCache>
                <c:ptCount val="1"/>
                <c:pt idx="0">
                  <c:v>Growth (%)</c:v>
                </c:pt>
              </c:strCache>
            </c:strRef>
          </c:tx>
          <c:spPr>
            <a:solidFill>
              <a:srgbClr val="607D8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2020</c:v>
                  </c:pt>
                  <c:pt idx="1">
                    <c:v>2021</c:v>
                  </c:pt>
                  <c:pt idx="2">
                    <c:v>2022</c:v>
                  </c:pt>
                  <c:pt idx="3">
                    <c:v>2023</c:v>
                  </c:pt>
                  <c:pt idx="4">
                    <c:v>2024</c:v>
                  </c:pt>
                  <c:pt idx="5">
                    <c:v>2025</c:v>
                  </c:pt>
                </c:lvl>
              </c:multiLvlStrCache>
            </c:multiLvlStrRef>
          </c:cat>
          <c:val>
            <c:numRef>
              <c:f>Sheet1!$C$2:$C$7</c:f>
              <c:numCache>
                <c:formatCode>General</c:formatCode>
                <c:ptCount val="6"/>
                <c:pt idx="0">
                  <c:v>21</c:v>
                </c:pt>
                <c:pt idx="1">
                  <c:v>45</c:v>
                </c:pt>
                <c:pt idx="2">
                  <c:v>40</c:v>
                </c:pt>
                <c:pt idx="3">
                  <c:v>49</c:v>
                </c:pt>
                <c:pt idx="4">
                  <c:v>38</c:v>
                </c:pt>
                <c:pt idx="5">
                  <c:v>36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solidFill>
          <a:srgbClr val="FAFAFA"/>
        </a:solidFill>
        <a:ln>
          <a:noFill/>
        </a:ln>
        <a:effectLst/>
      </c:spPr>
    </c:plotArea>
    <c:legend>
      <c:legendPos val="b"/>
      <c:overlay val="0"/>
      <c:txPr>
        <a:bodyPr/>
        <a:lstStyle/>
        <a:p>
          <a:pPr>
            <a:defRPr sz="1000">
              <a:solidFill>
                <a:srgbClr val="374151"/>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Annual Investment</c:v>
                </c:pt>
              </c:strCache>
            </c:strRef>
          </c:tx>
          <c:spPr>
            <a:solidFill>
              <a:srgbClr val="00BCD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Starter</c:v>
                  </c:pt>
                  <c:pt idx="1">
                    <c:v>Growth</c:v>
                  </c:pt>
                  <c:pt idx="2">
                    <c:v>Enterprise</c:v>
                  </c:pt>
                  <c:pt idx="3">
                    <c:v>Transformation</c:v>
                  </c:pt>
                </c:lvl>
              </c:multiLvlStrCache>
            </c:multiLvlStrRef>
          </c:cat>
          <c:val>
            <c:numRef>
              <c:f>Sheet1!$B$2:$B$5</c:f>
              <c:numCache>
                <c:formatCode>General</c:formatCode>
                <c:ptCount val="4"/>
                <c:pt idx="0">
                  <c:v>500</c:v>
                </c:pt>
                <c:pt idx="1">
                  <c:v>2</c:v>
                </c:pt>
                <c:pt idx="2">
                  <c:v>10</c:v>
                </c:pt>
                <c:pt idx="3">
                  <c:v>50</c:v>
                </c:pt>
              </c:numCache>
            </c:numRef>
          </c:val>
        </c:ser>
        <c:ser>
          <c:idx val="1"/>
          <c:order val="1"/>
          <c:tx>
            <c:strRef>
              <c:f>Sheet1!$C$1</c:f>
              <c:strCache>
                <c:ptCount val="1"/>
                <c:pt idx="0">
                  <c:v>Expected ROI</c:v>
                </c:pt>
              </c:strCache>
            </c:strRef>
          </c:tx>
          <c:spPr>
            <a:solidFill>
              <a:srgbClr val="607D8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Starter</c:v>
                  </c:pt>
                  <c:pt idx="1">
                    <c:v>Growth</c:v>
                  </c:pt>
                  <c:pt idx="2">
                    <c:v>Enterprise</c:v>
                  </c:pt>
                  <c:pt idx="3">
                    <c:v>Transformation</c:v>
                  </c:pt>
                </c:lvl>
              </c:multiLvlStrCache>
            </c:multiLvlStrRef>
          </c:cat>
          <c:val>
            <c:numRef>
              <c:f>Sheet1!$C$2:$C$5</c:f>
              <c:numCache>
                <c:formatCode>General</c:formatCode>
                <c:ptCount val="4"/>
                <c:pt idx="0">
                  <c:v>180</c:v>
                </c:pt>
                <c:pt idx="1">
                  <c:v>240</c:v>
                </c:pt>
                <c:pt idx="2">
                  <c:v>320</c:v>
                </c:pt>
                <c:pt idx="3">
                  <c:v>450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solidFill>
          <a:srgbClr val="FAFAFA"/>
        </a:solidFill>
        <a:ln>
          <a:noFill/>
        </a:ln>
        <a:effectLst/>
      </c:spPr>
    </c:plotArea>
    <c:legend>
      <c:legendPos val="b"/>
      <c:overlay val="0"/>
      <c:txPr>
        <a:bodyPr/>
        <a:lstStyle/>
        <a:p>
          <a:pPr>
            <a:defRPr sz="1000">
              <a:solidFill>
                <a:srgbClr val="374151"/>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COVER">
    <p:bg>
      <p:bgPr>
        <a:solidFill>
          <a:srgbClr val="1A222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CD4"/>
          </a:solidFill>
          <a:ln/>
        </p:spPr>
      </p:sp>
      <p:sp>
        <p:nvSpPr>
          <p:cNvPr id="3" name="Shape 1"/>
          <p:cNvSpPr/>
          <p:nvPr/>
        </p:nvSpPr>
        <p:spPr>
          <a:xfrm>
            <a:off x="0" y="4887468"/>
            <a:ext cx="9144000" cy="256032"/>
          </a:xfrm>
          <a:prstGeom prst="rect">
            <a:avLst/>
          </a:prstGeom>
          <a:solidFill>
            <a:srgbClr val="36454F"/>
          </a:solidFill>
          <a:ln/>
        </p:spPr>
      </p:sp>
      <p:sp>
        <p:nvSpPr>
          <p:cNvPr id="4" name="Text 2"/>
          <p:cNvSpPr/>
          <p:nvPr>
            <p:ph idx="104" type="title" hasCustomPrompt="1"/>
          </p:nvPr>
        </p:nvSpPr>
        <p:spPr>
          <a:xfrm>
            <a:off x="502920" y="1371600"/>
            <a:ext cx="6583680" cy="1463040"/>
          </a:xfrm>
          <a:prstGeom prst="rect">
            <a:avLst/>
          </a:prstGeom>
          <a:noFill/>
          <a:ln/>
        </p:spPr>
        <p:txBody>
          <a:bodyPr wrap="square" rtlCol="0"/>
          <a:lstStyle>
            <a:lvl1pPr algn="l" indent="0" marL="0">
              <a:buNone/>
              <a:defRPr lang="en-US" sz="4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000" dirty="0"/>
          </a:p>
        </p:txBody>
      </p:sp>
      <p:sp>
        <p:nvSpPr>
          <p:cNvPr id="5" name="Text 2"/>
          <p:cNvSpPr/>
          <p:nvPr>
            <p:ph idx="105" type="body" hasCustomPrompt="1"/>
          </p:nvPr>
        </p:nvSpPr>
        <p:spPr>
          <a:xfrm>
            <a:off x="502920" y="2926080"/>
            <a:ext cx="6583680" cy="822960"/>
          </a:xfrm>
          <a:prstGeom prst="rect">
            <a:avLst/>
          </a:prstGeom>
          <a:noFill/>
          <a:ln/>
        </p:spPr>
        <p:txBody>
          <a:bodyPr wrap="square" rtlCol="0"/>
          <a:lstStyle>
            <a:lvl1pPr algn="l" indent="0" marL="0">
              <a:buNone/>
              <a:defRPr lang="en-US" sz="1600" dirty="0">
                <a:solidFill>
                  <a:srgbClr val="607D8B"/>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A222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CD4"/>
          </a:solidFill>
          <a:ln/>
        </p:spPr>
      </p:sp>
      <p:sp>
        <p:nvSpPr>
          <p:cNvPr id="3" name="Shape 1"/>
          <p:cNvSpPr/>
          <p:nvPr/>
        </p:nvSpPr>
        <p:spPr>
          <a:xfrm>
            <a:off x="0" y="4978908"/>
            <a:ext cx="9144000" cy="164592"/>
          </a:xfrm>
          <a:prstGeom prst="rect">
            <a:avLst/>
          </a:prstGeom>
          <a:solidFill>
            <a:srgbClr val="36454F"/>
          </a:solidFill>
          <a:ln/>
        </p:spPr>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36454F"/>
          </a:solidFill>
          <a:ln/>
        </p:spPr>
      </p:sp>
      <p:sp>
        <p:nvSpPr>
          <p:cNvPr id="3" name="Shape 1"/>
          <p:cNvSpPr/>
          <p:nvPr/>
        </p:nvSpPr>
        <p:spPr>
          <a:xfrm>
            <a:off x="0" y="868680"/>
            <a:ext cx="9144000" cy="36576"/>
          </a:xfrm>
          <a:prstGeom prst="rect">
            <a:avLst/>
          </a:prstGeom>
          <a:solidFill>
            <a:srgbClr val="00BCD4"/>
          </a:solidFill>
          <a:ln/>
        </p:spPr>
      </p:sp>
      <p:sp>
        <p:nvSpPr>
          <p:cNvPr id="4" name="Shape 2"/>
          <p:cNvSpPr/>
          <p:nvPr/>
        </p:nvSpPr>
        <p:spPr>
          <a:xfrm>
            <a:off x="0" y="4978908"/>
            <a:ext cx="9144000" cy="164592"/>
          </a:xfrm>
          <a:prstGeom prst="rect">
            <a:avLst/>
          </a:prstGeom>
          <a:solidFill>
            <a:srgbClr val="36454F"/>
          </a:solidFill>
          <a:ln/>
        </p:spPr>
      </p:sp>
      <p:sp>
        <p:nvSpPr>
          <p:cNvPr id="5" name="Text 3"/>
          <p:cNvSpPr/>
          <p:nvPr>
            <p:ph idx="103" type="title" hasCustomPrompt="1"/>
          </p:nvPr>
        </p:nvSpPr>
        <p:spPr>
          <a:xfrm>
            <a:off x="365760" y="73152"/>
            <a:ext cx="8412480" cy="731520"/>
          </a:xfrm>
          <a:prstGeom prst="rect">
            <a:avLst/>
          </a:prstGeom>
          <a:noFill/>
          <a:ln/>
        </p:spPr>
        <p:txBody>
          <a:bodyPr wrap="square" rtlCol="0"/>
          <a:lstStyle>
            <a:lvl1pPr algn="l" indent="0" marL="0">
              <a:buNone/>
              <a:defRPr lang="en-US" sz="24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RT">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36454F"/>
          </a:solidFill>
          <a:ln/>
        </p:spPr>
      </p:sp>
      <p:sp>
        <p:nvSpPr>
          <p:cNvPr id="3" name="Shape 1"/>
          <p:cNvSpPr/>
          <p:nvPr/>
        </p:nvSpPr>
        <p:spPr>
          <a:xfrm>
            <a:off x="0" y="868680"/>
            <a:ext cx="9144000" cy="36576"/>
          </a:xfrm>
          <a:prstGeom prst="rect">
            <a:avLst/>
          </a:prstGeom>
          <a:solidFill>
            <a:srgbClr val="00BCD4"/>
          </a:solidFill>
          <a:ln/>
        </p:spPr>
      </p:sp>
      <p:sp>
        <p:nvSpPr>
          <p:cNvPr id="4" name="Shape 2"/>
          <p:cNvSpPr/>
          <p:nvPr/>
        </p:nvSpPr>
        <p:spPr>
          <a:xfrm>
            <a:off x="0" y="4978908"/>
            <a:ext cx="9144000" cy="164592"/>
          </a:xfrm>
          <a:prstGeom prst="rect">
            <a:avLst/>
          </a:prstGeom>
          <a:solidFill>
            <a:srgbClr val="36454F"/>
          </a:solidFill>
          <a:ln/>
        </p:spPr>
      </p:sp>
      <p:sp>
        <p:nvSpPr>
          <p:cNvPr id="5" name="Text 3"/>
          <p:cNvSpPr/>
          <p:nvPr>
            <p:ph idx="103" type="title" hasCustomPrompt="1"/>
          </p:nvPr>
        </p:nvSpPr>
        <p:spPr>
          <a:xfrm>
            <a:off x="365760" y="73152"/>
            <a:ext cx="8412480" cy="731520"/>
          </a:xfrm>
          <a:prstGeom prst="rect">
            <a:avLst/>
          </a:prstGeom>
          <a:noFill/>
          <a:ln/>
        </p:spPr>
        <p:txBody>
          <a:bodyPr wrap="square" rtlCol="0"/>
          <a:lstStyle>
            <a:lvl1pPr algn="l" indent="0" marL="0">
              <a:buNone/>
              <a:defRPr lang="en-US" sz="24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4" type="title" hasCustomPrompt="1"/>
          </p:nvPr>
        </p:nvSpPr>
        <p:spPr>
          <a:xfrm>
            <a:off x="502920" y="1371600"/>
            <a:ext cx="6583680" cy="146304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Artificial Intelligence in Modern Business</a:t>
            </a:r>
            <a:endParaRPr lang="en-US" sz="4000" dirty="0"/>
          </a:p>
        </p:txBody>
      </p:sp>
      <p:sp>
        <p:nvSpPr>
          <p:cNvPr id="3" name="Text 2"/>
          <p:cNvSpPr/>
          <p:nvPr>
            <p:ph idx="105" type="body" hasCustomPrompt="1"/>
          </p:nvPr>
        </p:nvSpPr>
        <p:spPr>
          <a:xfrm>
            <a:off x="502920" y="2926080"/>
            <a:ext cx="6583680" cy="822960"/>
          </a:xfrm>
          <a:prstGeom prst="rect">
            <a:avLst/>
          </a:prstGeom>
          <a:noFill/>
          <a:ln/>
        </p:spPr>
        <p:txBody>
          <a:bodyPr wrap="square" lIns="0" tIns="0" rIns="0" bIns="0" rtlCol="0" anchor="t"/>
          <a:lstStyle/>
          <a:p>
            <a:pPr algn="l" indent="0" marL="0">
              <a:buNone/>
            </a:pPr>
            <a:r>
              <a:rPr lang="en-US" sz="1600" dirty="0">
                <a:solidFill>
                  <a:srgbClr val="607D8B"/>
                </a:solidFill>
                <a:latin typeface="Calibri" pitchFamily="34" charset="0"/>
                <a:ea typeface="Calibri" pitchFamily="34" charset="-122"/>
                <a:cs typeface="Calibri" pitchFamily="34" charset="-120"/>
              </a:rPr>
              <a:t>A comprehensive overview of AI adoption, opportunities, and strategic implementation for enterprise organizations.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Agenda</a:t>
            </a:r>
            <a:endParaRPr lang="en-US" sz="2400" dirty="0"/>
          </a:p>
        </p:txBody>
      </p:sp>
      <p:sp>
        <p:nvSpPr>
          <p:cNvPr id="3" name="Shape 1"/>
          <p:cNvSpPr/>
          <p:nvPr/>
        </p:nvSpPr>
        <p:spPr>
          <a:xfrm>
            <a:off x="320040" y="1024128"/>
            <a:ext cx="3886200" cy="530352"/>
          </a:xfrm>
          <a:prstGeom prst="rect">
            <a:avLst/>
          </a:prstGeom>
          <a:solidFill>
            <a:srgbClr val="FFFFFF"/>
          </a:solidFill>
          <a:ln w="9525">
            <a:solidFill>
              <a:srgbClr val="36454F"/>
            </a:solidFill>
            <a:prstDash val="solid"/>
          </a:ln>
          <a:effectLst>
            <a:outerShdw sx="100000" sy="100000" kx="0" ky="0" algn="bl" rotWithShape="0" blurRad="63500" dist="25400" dir="8100000">
              <a:srgbClr val="000000">
                <a:alpha val="7000"/>
              </a:srgbClr>
            </a:outerShdw>
          </a:effectLst>
        </p:spPr>
      </p:sp>
      <p:sp>
        <p:nvSpPr>
          <p:cNvPr id="4" name="Shape 2"/>
          <p:cNvSpPr/>
          <p:nvPr/>
        </p:nvSpPr>
        <p:spPr>
          <a:xfrm>
            <a:off x="320040" y="1024128"/>
            <a:ext cx="384048" cy="530352"/>
          </a:xfrm>
          <a:prstGeom prst="rect">
            <a:avLst/>
          </a:prstGeom>
          <a:solidFill>
            <a:srgbClr val="36454F"/>
          </a:solidFill>
          <a:ln w="12700">
            <a:solidFill>
              <a:srgbClr val="36454F"/>
            </a:solidFill>
            <a:prstDash val="solid"/>
          </a:ln>
        </p:spPr>
      </p:sp>
      <p:sp>
        <p:nvSpPr>
          <p:cNvPr id="5" name="Text 3"/>
          <p:cNvSpPr/>
          <p:nvPr/>
        </p:nvSpPr>
        <p:spPr>
          <a:xfrm>
            <a:off x="320040" y="1024128"/>
            <a:ext cx="384048"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77240" y="1024128"/>
            <a:ext cx="3355848" cy="530352"/>
          </a:xfrm>
          <a:prstGeom prst="rect">
            <a:avLst/>
          </a:prstGeom>
          <a:noFill/>
          <a:ln/>
        </p:spPr>
        <p:txBody>
          <a:bodyPr wrap="square" lIns="0" tIns="0" rIns="0" bIns="0" rtlCol="0" anchor="ctr"/>
          <a:lstStyle/>
          <a:p>
            <a:pPr indent="0" marL="0">
              <a:buNone/>
            </a:pPr>
            <a:r>
              <a:rPr lang="en-US" sz="1300" dirty="0">
                <a:solidFill>
                  <a:srgbClr val="212121"/>
                </a:solidFill>
                <a:latin typeface="Calibri" pitchFamily="34" charset="0"/>
                <a:ea typeface="Calibri" pitchFamily="34" charset="-122"/>
                <a:cs typeface="Calibri" pitchFamily="34" charset="-120"/>
              </a:rPr>
              <a:t>Executive Overview</a:t>
            </a:r>
            <a:endParaRPr lang="en-US" sz="1300" dirty="0"/>
          </a:p>
        </p:txBody>
      </p:sp>
      <p:sp>
        <p:nvSpPr>
          <p:cNvPr id="7" name="Shape 5"/>
          <p:cNvSpPr/>
          <p:nvPr/>
        </p:nvSpPr>
        <p:spPr>
          <a:xfrm>
            <a:off x="320040" y="1691640"/>
            <a:ext cx="3886200" cy="530352"/>
          </a:xfrm>
          <a:prstGeom prst="rect">
            <a:avLst/>
          </a:prstGeom>
          <a:solidFill>
            <a:srgbClr val="FFFFFF"/>
          </a:solidFill>
          <a:ln w="9525">
            <a:solidFill>
              <a:srgbClr val="36454F"/>
            </a:solidFill>
            <a:prstDash val="solid"/>
          </a:ln>
          <a:effectLst>
            <a:outerShdw sx="100000" sy="100000" kx="0" ky="0" algn="bl" rotWithShape="0" blurRad="63500" dist="25400" dir="8100000">
              <a:srgbClr val="000000">
                <a:alpha val="7000"/>
              </a:srgbClr>
            </a:outerShdw>
          </a:effectLst>
        </p:spPr>
      </p:sp>
      <p:sp>
        <p:nvSpPr>
          <p:cNvPr id="8" name="Shape 6"/>
          <p:cNvSpPr/>
          <p:nvPr/>
        </p:nvSpPr>
        <p:spPr>
          <a:xfrm>
            <a:off x="320040" y="1691640"/>
            <a:ext cx="384048" cy="530352"/>
          </a:xfrm>
          <a:prstGeom prst="rect">
            <a:avLst/>
          </a:prstGeom>
          <a:solidFill>
            <a:srgbClr val="36454F"/>
          </a:solidFill>
          <a:ln w="12700">
            <a:solidFill>
              <a:srgbClr val="36454F"/>
            </a:solidFill>
            <a:prstDash val="solid"/>
          </a:ln>
        </p:spPr>
      </p:sp>
      <p:sp>
        <p:nvSpPr>
          <p:cNvPr id="9" name="Text 7"/>
          <p:cNvSpPr/>
          <p:nvPr/>
        </p:nvSpPr>
        <p:spPr>
          <a:xfrm>
            <a:off x="320040" y="1691640"/>
            <a:ext cx="384048"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777240" y="1691640"/>
            <a:ext cx="3355848" cy="530352"/>
          </a:xfrm>
          <a:prstGeom prst="rect">
            <a:avLst/>
          </a:prstGeom>
          <a:noFill/>
          <a:ln/>
        </p:spPr>
        <p:txBody>
          <a:bodyPr wrap="square" lIns="0" tIns="0" rIns="0" bIns="0" rtlCol="0" anchor="ctr"/>
          <a:lstStyle/>
          <a:p>
            <a:pPr indent="0" marL="0">
              <a:buNone/>
            </a:pPr>
            <a:r>
              <a:rPr lang="en-US" sz="1300" dirty="0">
                <a:solidFill>
                  <a:srgbClr val="212121"/>
                </a:solidFill>
                <a:latin typeface="Calibri" pitchFamily="34" charset="0"/>
                <a:ea typeface="Calibri" pitchFamily="34" charset="-122"/>
                <a:cs typeface="Calibri" pitchFamily="34" charset="-120"/>
              </a:rPr>
              <a:t>Market Landscape</a:t>
            </a:r>
            <a:endParaRPr lang="en-US" sz="1300" dirty="0"/>
          </a:p>
        </p:txBody>
      </p:sp>
      <p:sp>
        <p:nvSpPr>
          <p:cNvPr id="11" name="Shape 9"/>
          <p:cNvSpPr/>
          <p:nvPr/>
        </p:nvSpPr>
        <p:spPr>
          <a:xfrm>
            <a:off x="320040" y="2359152"/>
            <a:ext cx="3886200" cy="530352"/>
          </a:xfrm>
          <a:prstGeom prst="rect">
            <a:avLst/>
          </a:prstGeom>
          <a:solidFill>
            <a:srgbClr val="FFFFFF"/>
          </a:solidFill>
          <a:ln w="9525">
            <a:solidFill>
              <a:srgbClr val="36454F"/>
            </a:solidFill>
            <a:prstDash val="solid"/>
          </a:ln>
          <a:effectLst>
            <a:outerShdw sx="100000" sy="100000" kx="0" ky="0" algn="bl" rotWithShape="0" blurRad="63500" dist="25400" dir="8100000">
              <a:srgbClr val="000000">
                <a:alpha val="7000"/>
              </a:srgbClr>
            </a:outerShdw>
          </a:effectLst>
        </p:spPr>
      </p:sp>
      <p:sp>
        <p:nvSpPr>
          <p:cNvPr id="12" name="Shape 10"/>
          <p:cNvSpPr/>
          <p:nvPr/>
        </p:nvSpPr>
        <p:spPr>
          <a:xfrm>
            <a:off x="320040" y="2359152"/>
            <a:ext cx="384048" cy="530352"/>
          </a:xfrm>
          <a:prstGeom prst="rect">
            <a:avLst/>
          </a:prstGeom>
          <a:solidFill>
            <a:srgbClr val="36454F"/>
          </a:solidFill>
          <a:ln w="12700">
            <a:solidFill>
              <a:srgbClr val="36454F"/>
            </a:solidFill>
            <a:prstDash val="solid"/>
          </a:ln>
        </p:spPr>
      </p:sp>
      <p:sp>
        <p:nvSpPr>
          <p:cNvPr id="13" name="Text 11"/>
          <p:cNvSpPr/>
          <p:nvPr/>
        </p:nvSpPr>
        <p:spPr>
          <a:xfrm>
            <a:off x="320040" y="2359152"/>
            <a:ext cx="384048"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777240" y="2359152"/>
            <a:ext cx="3355848" cy="530352"/>
          </a:xfrm>
          <a:prstGeom prst="rect">
            <a:avLst/>
          </a:prstGeom>
          <a:noFill/>
          <a:ln/>
        </p:spPr>
        <p:txBody>
          <a:bodyPr wrap="square" lIns="0" tIns="0" rIns="0" bIns="0" rtlCol="0" anchor="ctr"/>
          <a:lstStyle/>
          <a:p>
            <a:pPr indent="0" marL="0">
              <a:buNone/>
            </a:pPr>
            <a:r>
              <a:rPr lang="en-US" sz="1300" dirty="0">
                <a:solidFill>
                  <a:srgbClr val="212121"/>
                </a:solidFill>
                <a:latin typeface="Calibri" pitchFamily="34" charset="0"/>
                <a:ea typeface="Calibri" pitchFamily="34" charset="-122"/>
                <a:cs typeface="Calibri" pitchFamily="34" charset="-120"/>
              </a:rPr>
              <a:t>Key Application Areas</a:t>
            </a:r>
            <a:endParaRPr lang="en-US" sz="1300" dirty="0"/>
          </a:p>
        </p:txBody>
      </p:sp>
      <p:sp>
        <p:nvSpPr>
          <p:cNvPr id="15" name="Shape 13"/>
          <p:cNvSpPr/>
          <p:nvPr/>
        </p:nvSpPr>
        <p:spPr>
          <a:xfrm>
            <a:off x="320040" y="3026664"/>
            <a:ext cx="3886200" cy="530352"/>
          </a:xfrm>
          <a:prstGeom prst="rect">
            <a:avLst/>
          </a:prstGeom>
          <a:solidFill>
            <a:srgbClr val="FFFFFF"/>
          </a:solidFill>
          <a:ln w="9525">
            <a:solidFill>
              <a:srgbClr val="36454F"/>
            </a:solidFill>
            <a:prstDash val="solid"/>
          </a:ln>
          <a:effectLst>
            <a:outerShdw sx="100000" sy="100000" kx="0" ky="0" algn="bl" rotWithShape="0" blurRad="63500" dist="25400" dir="8100000">
              <a:srgbClr val="000000">
                <a:alpha val="7000"/>
              </a:srgbClr>
            </a:outerShdw>
          </a:effectLst>
        </p:spPr>
      </p:sp>
      <p:sp>
        <p:nvSpPr>
          <p:cNvPr id="16" name="Shape 14"/>
          <p:cNvSpPr/>
          <p:nvPr/>
        </p:nvSpPr>
        <p:spPr>
          <a:xfrm>
            <a:off x="320040" y="3026664"/>
            <a:ext cx="384048" cy="530352"/>
          </a:xfrm>
          <a:prstGeom prst="rect">
            <a:avLst/>
          </a:prstGeom>
          <a:solidFill>
            <a:srgbClr val="36454F"/>
          </a:solidFill>
          <a:ln w="12700">
            <a:solidFill>
              <a:srgbClr val="36454F"/>
            </a:solidFill>
            <a:prstDash val="solid"/>
          </a:ln>
        </p:spPr>
      </p:sp>
      <p:sp>
        <p:nvSpPr>
          <p:cNvPr id="17" name="Text 15"/>
          <p:cNvSpPr/>
          <p:nvPr/>
        </p:nvSpPr>
        <p:spPr>
          <a:xfrm>
            <a:off x="320040" y="3026664"/>
            <a:ext cx="384048"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777240" y="3026664"/>
            <a:ext cx="3355848" cy="530352"/>
          </a:xfrm>
          <a:prstGeom prst="rect">
            <a:avLst/>
          </a:prstGeom>
          <a:noFill/>
          <a:ln/>
        </p:spPr>
        <p:txBody>
          <a:bodyPr wrap="square" lIns="0" tIns="0" rIns="0" bIns="0" rtlCol="0" anchor="ctr"/>
          <a:lstStyle/>
          <a:p>
            <a:pPr indent="0" marL="0">
              <a:buNone/>
            </a:pPr>
            <a:r>
              <a:rPr lang="en-US" sz="1300" dirty="0">
                <a:solidFill>
                  <a:srgbClr val="212121"/>
                </a:solidFill>
                <a:latin typeface="Calibri" pitchFamily="34" charset="0"/>
                <a:ea typeface="Calibri" pitchFamily="34" charset="-122"/>
                <a:cs typeface="Calibri" pitchFamily="34" charset="-120"/>
              </a:rPr>
              <a:t>Industry Impact</a:t>
            </a:r>
            <a:endParaRPr lang="en-US" sz="1300" dirty="0"/>
          </a:p>
        </p:txBody>
      </p:sp>
      <p:sp>
        <p:nvSpPr>
          <p:cNvPr id="19" name="Shape 17"/>
          <p:cNvSpPr/>
          <p:nvPr/>
        </p:nvSpPr>
        <p:spPr>
          <a:xfrm>
            <a:off x="4709160" y="1024128"/>
            <a:ext cx="3886200" cy="530352"/>
          </a:xfrm>
          <a:prstGeom prst="rect">
            <a:avLst/>
          </a:prstGeom>
          <a:solidFill>
            <a:srgbClr val="FFFFFF"/>
          </a:solidFill>
          <a:ln w="9525">
            <a:solidFill>
              <a:srgbClr val="36454F"/>
            </a:solidFill>
            <a:prstDash val="solid"/>
          </a:ln>
          <a:effectLst>
            <a:outerShdw sx="100000" sy="100000" kx="0" ky="0" algn="bl" rotWithShape="0" blurRad="63500" dist="25400" dir="8100000">
              <a:srgbClr val="000000">
                <a:alpha val="7000"/>
              </a:srgbClr>
            </a:outerShdw>
          </a:effectLst>
        </p:spPr>
      </p:sp>
      <p:sp>
        <p:nvSpPr>
          <p:cNvPr id="20" name="Shape 18"/>
          <p:cNvSpPr/>
          <p:nvPr/>
        </p:nvSpPr>
        <p:spPr>
          <a:xfrm>
            <a:off x="4709160" y="1024128"/>
            <a:ext cx="384048" cy="530352"/>
          </a:xfrm>
          <a:prstGeom prst="rect">
            <a:avLst/>
          </a:prstGeom>
          <a:solidFill>
            <a:srgbClr val="36454F"/>
          </a:solidFill>
          <a:ln w="12700">
            <a:solidFill>
              <a:srgbClr val="36454F"/>
            </a:solidFill>
            <a:prstDash val="solid"/>
          </a:ln>
        </p:spPr>
      </p:sp>
      <p:sp>
        <p:nvSpPr>
          <p:cNvPr id="21" name="Text 19"/>
          <p:cNvSpPr/>
          <p:nvPr/>
        </p:nvSpPr>
        <p:spPr>
          <a:xfrm>
            <a:off x="4709160" y="1024128"/>
            <a:ext cx="384048"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5166360" y="1024128"/>
            <a:ext cx="3355848" cy="530352"/>
          </a:xfrm>
          <a:prstGeom prst="rect">
            <a:avLst/>
          </a:prstGeom>
          <a:noFill/>
          <a:ln/>
        </p:spPr>
        <p:txBody>
          <a:bodyPr wrap="square" lIns="0" tIns="0" rIns="0" bIns="0" rtlCol="0" anchor="ctr"/>
          <a:lstStyle/>
          <a:p>
            <a:pPr indent="0" marL="0">
              <a:buNone/>
            </a:pPr>
            <a:r>
              <a:rPr lang="en-US" sz="1300" dirty="0">
                <a:solidFill>
                  <a:srgbClr val="212121"/>
                </a:solidFill>
                <a:latin typeface="Calibri" pitchFamily="34" charset="0"/>
                <a:ea typeface="Calibri" pitchFamily="34" charset="-122"/>
                <a:cs typeface="Calibri" pitchFamily="34" charset="-120"/>
              </a:rPr>
              <a:t>Adoption Challenges</a:t>
            </a:r>
            <a:endParaRPr lang="en-US" sz="1300" dirty="0"/>
          </a:p>
        </p:txBody>
      </p:sp>
      <p:sp>
        <p:nvSpPr>
          <p:cNvPr id="23" name="Shape 21"/>
          <p:cNvSpPr/>
          <p:nvPr/>
        </p:nvSpPr>
        <p:spPr>
          <a:xfrm>
            <a:off x="4709160" y="1691640"/>
            <a:ext cx="3886200" cy="530352"/>
          </a:xfrm>
          <a:prstGeom prst="rect">
            <a:avLst/>
          </a:prstGeom>
          <a:solidFill>
            <a:srgbClr val="FFFFFF"/>
          </a:solidFill>
          <a:ln w="9525">
            <a:solidFill>
              <a:srgbClr val="36454F"/>
            </a:solidFill>
            <a:prstDash val="solid"/>
          </a:ln>
          <a:effectLst>
            <a:outerShdw sx="100000" sy="100000" kx="0" ky="0" algn="bl" rotWithShape="0" blurRad="63500" dist="25400" dir="8100000">
              <a:srgbClr val="000000">
                <a:alpha val="7000"/>
              </a:srgbClr>
            </a:outerShdw>
          </a:effectLst>
        </p:spPr>
      </p:sp>
      <p:sp>
        <p:nvSpPr>
          <p:cNvPr id="24" name="Shape 22"/>
          <p:cNvSpPr/>
          <p:nvPr/>
        </p:nvSpPr>
        <p:spPr>
          <a:xfrm>
            <a:off x="4709160" y="1691640"/>
            <a:ext cx="384048" cy="530352"/>
          </a:xfrm>
          <a:prstGeom prst="rect">
            <a:avLst/>
          </a:prstGeom>
          <a:solidFill>
            <a:srgbClr val="36454F"/>
          </a:solidFill>
          <a:ln w="12700">
            <a:solidFill>
              <a:srgbClr val="36454F"/>
            </a:solidFill>
            <a:prstDash val="solid"/>
          </a:ln>
        </p:spPr>
      </p:sp>
      <p:sp>
        <p:nvSpPr>
          <p:cNvPr id="25" name="Text 23"/>
          <p:cNvSpPr/>
          <p:nvPr/>
        </p:nvSpPr>
        <p:spPr>
          <a:xfrm>
            <a:off x="4709160" y="1691640"/>
            <a:ext cx="384048"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p:nvPr/>
        </p:nvSpPr>
        <p:spPr>
          <a:xfrm>
            <a:off x="5166360" y="1691640"/>
            <a:ext cx="3355848" cy="530352"/>
          </a:xfrm>
          <a:prstGeom prst="rect">
            <a:avLst/>
          </a:prstGeom>
          <a:noFill/>
          <a:ln/>
        </p:spPr>
        <p:txBody>
          <a:bodyPr wrap="square" lIns="0" tIns="0" rIns="0" bIns="0" rtlCol="0" anchor="ctr"/>
          <a:lstStyle/>
          <a:p>
            <a:pPr indent="0" marL="0">
              <a:buNone/>
            </a:pPr>
            <a:r>
              <a:rPr lang="en-US" sz="1300" dirty="0">
                <a:solidFill>
                  <a:srgbClr val="212121"/>
                </a:solidFill>
                <a:latin typeface="Calibri" pitchFamily="34" charset="0"/>
                <a:ea typeface="Calibri" pitchFamily="34" charset="-122"/>
                <a:cs typeface="Calibri" pitchFamily="34" charset="-120"/>
              </a:rPr>
              <a:t>Strategic Implementation Framework</a:t>
            </a:r>
            <a:endParaRPr lang="en-US" sz="1300" dirty="0"/>
          </a:p>
        </p:txBody>
      </p:sp>
      <p:sp>
        <p:nvSpPr>
          <p:cNvPr id="27" name="Shape 25"/>
          <p:cNvSpPr/>
          <p:nvPr/>
        </p:nvSpPr>
        <p:spPr>
          <a:xfrm>
            <a:off x="4709160" y="2359152"/>
            <a:ext cx="3886200" cy="530352"/>
          </a:xfrm>
          <a:prstGeom prst="rect">
            <a:avLst/>
          </a:prstGeom>
          <a:solidFill>
            <a:srgbClr val="FFFFFF"/>
          </a:solidFill>
          <a:ln w="9525">
            <a:solidFill>
              <a:srgbClr val="36454F"/>
            </a:solidFill>
            <a:prstDash val="solid"/>
          </a:ln>
          <a:effectLst>
            <a:outerShdw sx="100000" sy="100000" kx="0" ky="0" algn="bl" rotWithShape="0" blurRad="63500" dist="25400" dir="8100000">
              <a:srgbClr val="000000">
                <a:alpha val="7000"/>
              </a:srgbClr>
            </a:outerShdw>
          </a:effectLst>
        </p:spPr>
      </p:sp>
      <p:sp>
        <p:nvSpPr>
          <p:cNvPr id="28" name="Shape 26"/>
          <p:cNvSpPr/>
          <p:nvPr/>
        </p:nvSpPr>
        <p:spPr>
          <a:xfrm>
            <a:off x="4709160" y="2359152"/>
            <a:ext cx="384048" cy="530352"/>
          </a:xfrm>
          <a:prstGeom prst="rect">
            <a:avLst/>
          </a:prstGeom>
          <a:solidFill>
            <a:srgbClr val="36454F"/>
          </a:solidFill>
          <a:ln w="12700">
            <a:solidFill>
              <a:srgbClr val="36454F"/>
            </a:solidFill>
            <a:prstDash val="solid"/>
          </a:ln>
        </p:spPr>
      </p:sp>
      <p:sp>
        <p:nvSpPr>
          <p:cNvPr id="29" name="Text 27"/>
          <p:cNvSpPr/>
          <p:nvPr/>
        </p:nvSpPr>
        <p:spPr>
          <a:xfrm>
            <a:off x="4709160" y="2359152"/>
            <a:ext cx="384048"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0" name="Text 28"/>
          <p:cNvSpPr/>
          <p:nvPr/>
        </p:nvSpPr>
        <p:spPr>
          <a:xfrm>
            <a:off x="5166360" y="2359152"/>
            <a:ext cx="3355848" cy="530352"/>
          </a:xfrm>
          <a:prstGeom prst="rect">
            <a:avLst/>
          </a:prstGeom>
          <a:noFill/>
          <a:ln/>
        </p:spPr>
        <p:txBody>
          <a:bodyPr wrap="square" lIns="0" tIns="0" rIns="0" bIns="0" rtlCol="0" anchor="ctr"/>
          <a:lstStyle/>
          <a:p>
            <a:pPr indent="0" marL="0">
              <a:buNone/>
            </a:pPr>
            <a:r>
              <a:rPr lang="en-US" sz="1300" dirty="0">
                <a:solidFill>
                  <a:srgbClr val="212121"/>
                </a:solidFill>
                <a:latin typeface="Calibri" pitchFamily="34" charset="0"/>
                <a:ea typeface="Calibri" pitchFamily="34" charset="-122"/>
                <a:cs typeface="Calibri" pitchFamily="34" charset="-120"/>
              </a:rPr>
              <a:t>ROI by Investment Level</a:t>
            </a:r>
            <a:endParaRPr lang="en-US" sz="1300" dirty="0"/>
          </a:p>
        </p:txBody>
      </p:sp>
      <p:sp>
        <p:nvSpPr>
          <p:cNvPr id="31" name="Shape 29"/>
          <p:cNvSpPr/>
          <p:nvPr/>
        </p:nvSpPr>
        <p:spPr>
          <a:xfrm>
            <a:off x="4709160" y="3026664"/>
            <a:ext cx="3886200" cy="530352"/>
          </a:xfrm>
          <a:prstGeom prst="rect">
            <a:avLst/>
          </a:prstGeom>
          <a:solidFill>
            <a:srgbClr val="FFFFFF"/>
          </a:solidFill>
          <a:ln w="9525">
            <a:solidFill>
              <a:srgbClr val="36454F"/>
            </a:solidFill>
            <a:prstDash val="solid"/>
          </a:ln>
          <a:effectLst>
            <a:outerShdw sx="100000" sy="100000" kx="0" ky="0" algn="bl" rotWithShape="0" blurRad="63500" dist="25400" dir="8100000">
              <a:srgbClr val="000000">
                <a:alpha val="7000"/>
              </a:srgbClr>
            </a:outerShdw>
          </a:effectLst>
        </p:spPr>
      </p:sp>
      <p:sp>
        <p:nvSpPr>
          <p:cNvPr id="32" name="Shape 30"/>
          <p:cNvSpPr/>
          <p:nvPr/>
        </p:nvSpPr>
        <p:spPr>
          <a:xfrm>
            <a:off x="4709160" y="3026664"/>
            <a:ext cx="384048" cy="530352"/>
          </a:xfrm>
          <a:prstGeom prst="rect">
            <a:avLst/>
          </a:prstGeom>
          <a:solidFill>
            <a:srgbClr val="36454F"/>
          </a:solidFill>
          <a:ln w="12700">
            <a:solidFill>
              <a:srgbClr val="36454F"/>
            </a:solidFill>
            <a:prstDash val="solid"/>
          </a:ln>
        </p:spPr>
      </p:sp>
      <p:sp>
        <p:nvSpPr>
          <p:cNvPr id="33" name="Text 31"/>
          <p:cNvSpPr/>
          <p:nvPr/>
        </p:nvSpPr>
        <p:spPr>
          <a:xfrm>
            <a:off x="4709160" y="3026664"/>
            <a:ext cx="384048"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4" name="Text 32"/>
          <p:cNvSpPr/>
          <p:nvPr/>
        </p:nvSpPr>
        <p:spPr>
          <a:xfrm>
            <a:off x="5166360" y="3026664"/>
            <a:ext cx="3355848" cy="530352"/>
          </a:xfrm>
          <a:prstGeom prst="rect">
            <a:avLst/>
          </a:prstGeom>
          <a:noFill/>
          <a:ln/>
        </p:spPr>
        <p:txBody>
          <a:bodyPr wrap="square" lIns="0" tIns="0" rIns="0" bIns="0" rtlCol="0" anchor="ctr"/>
          <a:lstStyle/>
          <a:p>
            <a:pPr indent="0" marL="0">
              <a:buNone/>
            </a:pPr>
            <a:r>
              <a:rPr lang="en-US" sz="1300" dirty="0">
                <a:solidFill>
                  <a:srgbClr val="212121"/>
                </a:solidFill>
                <a:latin typeface="Calibri" pitchFamily="34" charset="0"/>
                <a:ea typeface="Calibri" pitchFamily="34" charset="-122"/>
                <a:cs typeface="Calibri" pitchFamily="34" charset="-120"/>
              </a:rPr>
              <a:t>Competitive Differentiation</a:t>
            </a:r>
            <a:endParaRPr lang="en-US" sz="13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20040" y="182880"/>
            <a:ext cx="8503920" cy="65836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320040" y="914400"/>
            <a:ext cx="8503920" cy="36576"/>
          </a:xfrm>
          <a:prstGeom prst="rect">
            <a:avLst/>
          </a:prstGeom>
          <a:solidFill>
            <a:srgbClr val="00BCD4"/>
          </a:solidFill>
          <a:ln w="12700">
            <a:solidFill>
              <a:srgbClr val="00BCD4"/>
            </a:solidFill>
            <a:prstDash val="solid"/>
          </a:ln>
        </p:spPr>
      </p:sp>
      <p:sp>
        <p:nvSpPr>
          <p:cNvPr id="4" name="Shape 2"/>
          <p:cNvSpPr/>
          <p:nvPr/>
        </p:nvSpPr>
        <p:spPr>
          <a:xfrm>
            <a:off x="320040" y="1005840"/>
            <a:ext cx="8503920" cy="908685"/>
          </a:xfrm>
          <a:prstGeom prst="rect">
            <a:avLst/>
          </a:prstGeom>
          <a:solidFill>
            <a:srgbClr val="36454F">
              <a:alpha val="65000"/>
            </a:srgbClr>
          </a:solidFill>
          <a:ln w="6350">
            <a:solidFill>
              <a:srgbClr val="00BCD4"/>
            </a:solidFill>
            <a:prstDash val="solid"/>
          </a:ln>
        </p:spPr>
      </p:sp>
      <p:sp>
        <p:nvSpPr>
          <p:cNvPr id="5" name="Shape 3"/>
          <p:cNvSpPr/>
          <p:nvPr/>
        </p:nvSpPr>
        <p:spPr>
          <a:xfrm>
            <a:off x="320040" y="1005840"/>
            <a:ext cx="64008" cy="908685"/>
          </a:xfrm>
          <a:prstGeom prst="rect">
            <a:avLst/>
          </a:prstGeom>
          <a:solidFill>
            <a:srgbClr val="00BCD4"/>
          </a:solidFill>
          <a:ln w="12700">
            <a:solidFill>
              <a:srgbClr val="00BCD4"/>
            </a:solidFill>
            <a:prstDash val="solid"/>
          </a:ln>
        </p:spPr>
      </p:sp>
      <p:sp>
        <p:nvSpPr>
          <p:cNvPr id="6" name="Shape 4"/>
          <p:cNvSpPr/>
          <p:nvPr/>
        </p:nvSpPr>
        <p:spPr>
          <a:xfrm>
            <a:off x="512064" y="1277303"/>
            <a:ext cx="365760" cy="365760"/>
          </a:xfrm>
          <a:prstGeom prst="ellipse">
            <a:avLst/>
          </a:prstGeom>
          <a:solidFill>
            <a:srgbClr val="00BCD4"/>
          </a:solidFill>
          <a:ln w="12700">
            <a:solidFill>
              <a:srgbClr val="00BCD4"/>
            </a:solidFill>
            <a:prstDash val="solid"/>
          </a:ln>
        </p:spPr>
      </p:sp>
      <p:sp>
        <p:nvSpPr>
          <p:cNvPr id="7" name="Text 5"/>
          <p:cNvSpPr/>
          <p:nvPr/>
        </p:nvSpPr>
        <p:spPr>
          <a:xfrm>
            <a:off x="512064" y="1277303"/>
            <a:ext cx="365760" cy="365760"/>
          </a:xfrm>
          <a:prstGeom prst="rect">
            <a:avLst/>
          </a:prstGeom>
          <a:noFill/>
          <a:ln/>
        </p:spPr>
        <p:txBody>
          <a:bodyPr wrap="square" lIns="0" tIns="0" rIns="0" bIns="0" rtlCol="0" anchor="ctr"/>
          <a:lstStyle/>
          <a:p>
            <a:pPr algn="ctr" indent="0" marL="0">
              <a:buNone/>
            </a:pPr>
            <a:r>
              <a:rPr lang="en-US" sz="1200" b="1" dirty="0">
                <a:solidFill>
                  <a:srgbClr val="1A2227"/>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005840" y="1060704"/>
            <a:ext cx="7680960" cy="798957"/>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comprehensive overview of AI adoption, opportunities, and strategic implementation for enterprise organizations.</a:t>
            </a:r>
            <a:endParaRPr lang="en-US" sz="1300" dirty="0"/>
          </a:p>
        </p:txBody>
      </p:sp>
      <p:sp>
        <p:nvSpPr>
          <p:cNvPr id="9" name="Shape 7"/>
          <p:cNvSpPr/>
          <p:nvPr/>
        </p:nvSpPr>
        <p:spPr>
          <a:xfrm>
            <a:off x="320040" y="2005965"/>
            <a:ext cx="8503920" cy="908685"/>
          </a:xfrm>
          <a:prstGeom prst="rect">
            <a:avLst/>
          </a:prstGeom>
          <a:solidFill>
            <a:srgbClr val="36454F">
              <a:alpha val="65000"/>
            </a:srgbClr>
          </a:solidFill>
          <a:ln w="6350">
            <a:solidFill>
              <a:srgbClr val="00BCD4"/>
            </a:solidFill>
            <a:prstDash val="solid"/>
          </a:ln>
        </p:spPr>
      </p:sp>
      <p:sp>
        <p:nvSpPr>
          <p:cNvPr id="10" name="Shape 8"/>
          <p:cNvSpPr/>
          <p:nvPr/>
        </p:nvSpPr>
        <p:spPr>
          <a:xfrm>
            <a:off x="320040" y="2005965"/>
            <a:ext cx="64008" cy="908685"/>
          </a:xfrm>
          <a:prstGeom prst="rect">
            <a:avLst/>
          </a:prstGeom>
          <a:solidFill>
            <a:srgbClr val="00BCD4"/>
          </a:solidFill>
          <a:ln w="12700">
            <a:solidFill>
              <a:srgbClr val="00BCD4"/>
            </a:solidFill>
            <a:prstDash val="solid"/>
          </a:ln>
        </p:spPr>
      </p:sp>
      <p:sp>
        <p:nvSpPr>
          <p:cNvPr id="11" name="Shape 9"/>
          <p:cNvSpPr/>
          <p:nvPr/>
        </p:nvSpPr>
        <p:spPr>
          <a:xfrm>
            <a:off x="512064" y="2277428"/>
            <a:ext cx="365760" cy="365760"/>
          </a:xfrm>
          <a:prstGeom prst="ellipse">
            <a:avLst/>
          </a:prstGeom>
          <a:solidFill>
            <a:srgbClr val="00BCD4"/>
          </a:solidFill>
          <a:ln w="12700">
            <a:solidFill>
              <a:srgbClr val="00BCD4"/>
            </a:solidFill>
            <a:prstDash val="solid"/>
          </a:ln>
        </p:spPr>
      </p:sp>
      <p:sp>
        <p:nvSpPr>
          <p:cNvPr id="12" name="Text 10"/>
          <p:cNvSpPr/>
          <p:nvPr/>
        </p:nvSpPr>
        <p:spPr>
          <a:xfrm>
            <a:off x="512064" y="2277428"/>
            <a:ext cx="365760" cy="365760"/>
          </a:xfrm>
          <a:prstGeom prst="rect">
            <a:avLst/>
          </a:prstGeom>
          <a:noFill/>
          <a:ln/>
        </p:spPr>
        <p:txBody>
          <a:bodyPr wrap="square" lIns="0" tIns="0" rIns="0" bIns="0" rtlCol="0" anchor="ctr"/>
          <a:lstStyle/>
          <a:p>
            <a:pPr algn="ctr" indent="0" marL="0">
              <a:buNone/>
            </a:pPr>
            <a:r>
              <a:rPr lang="en-US" sz="1200" b="1" dirty="0">
                <a:solidFill>
                  <a:srgbClr val="1A2227"/>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005840" y="2060829"/>
            <a:ext cx="7680960" cy="798957"/>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Artificial intelligence is reshaping industries at an unprecedented pace. Organizations that embrace AI strategically stand to gain significant competitive advantages in efficiency, customer experience, and innovation. According to McKinsey, companies that fully…</a:t>
            </a:r>
            <a:endParaRPr lang="en-US" sz="1300" dirty="0"/>
          </a:p>
        </p:txBody>
      </p:sp>
      <p:sp>
        <p:nvSpPr>
          <p:cNvPr id="14" name="Shape 12"/>
          <p:cNvSpPr/>
          <p:nvPr/>
        </p:nvSpPr>
        <p:spPr>
          <a:xfrm>
            <a:off x="320040" y="3006090"/>
            <a:ext cx="8503920" cy="908685"/>
          </a:xfrm>
          <a:prstGeom prst="rect">
            <a:avLst/>
          </a:prstGeom>
          <a:solidFill>
            <a:srgbClr val="36454F">
              <a:alpha val="65000"/>
            </a:srgbClr>
          </a:solidFill>
          <a:ln w="6350">
            <a:solidFill>
              <a:srgbClr val="00BCD4"/>
            </a:solidFill>
            <a:prstDash val="solid"/>
          </a:ln>
        </p:spPr>
      </p:sp>
      <p:sp>
        <p:nvSpPr>
          <p:cNvPr id="15" name="Shape 13"/>
          <p:cNvSpPr/>
          <p:nvPr/>
        </p:nvSpPr>
        <p:spPr>
          <a:xfrm>
            <a:off x="320040" y="3006090"/>
            <a:ext cx="64008" cy="908685"/>
          </a:xfrm>
          <a:prstGeom prst="rect">
            <a:avLst/>
          </a:prstGeom>
          <a:solidFill>
            <a:srgbClr val="00BCD4"/>
          </a:solidFill>
          <a:ln w="12700">
            <a:solidFill>
              <a:srgbClr val="00BCD4"/>
            </a:solidFill>
            <a:prstDash val="solid"/>
          </a:ln>
        </p:spPr>
      </p:sp>
      <p:sp>
        <p:nvSpPr>
          <p:cNvPr id="16" name="Shape 14"/>
          <p:cNvSpPr/>
          <p:nvPr/>
        </p:nvSpPr>
        <p:spPr>
          <a:xfrm>
            <a:off x="512064" y="3277553"/>
            <a:ext cx="365760" cy="365760"/>
          </a:xfrm>
          <a:prstGeom prst="ellipse">
            <a:avLst/>
          </a:prstGeom>
          <a:solidFill>
            <a:srgbClr val="00BCD4"/>
          </a:solidFill>
          <a:ln w="12700">
            <a:solidFill>
              <a:srgbClr val="00BCD4"/>
            </a:solidFill>
            <a:prstDash val="solid"/>
          </a:ln>
        </p:spPr>
      </p:sp>
      <p:sp>
        <p:nvSpPr>
          <p:cNvPr id="17" name="Text 15"/>
          <p:cNvSpPr/>
          <p:nvPr/>
        </p:nvSpPr>
        <p:spPr>
          <a:xfrm>
            <a:off x="512064" y="3277553"/>
            <a:ext cx="365760" cy="365760"/>
          </a:xfrm>
          <a:prstGeom prst="rect">
            <a:avLst/>
          </a:prstGeom>
          <a:noFill/>
          <a:ln/>
        </p:spPr>
        <p:txBody>
          <a:bodyPr wrap="square" lIns="0" tIns="0" rIns="0" bIns="0" rtlCol="0" anchor="ctr"/>
          <a:lstStyle/>
          <a:p>
            <a:pPr algn="ctr" indent="0" marL="0">
              <a:buNone/>
            </a:pPr>
            <a:r>
              <a:rPr lang="en-US" sz="1200" b="1" dirty="0">
                <a:solidFill>
                  <a:srgbClr val="1A2227"/>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005840" y="3060954"/>
            <a:ext cx="7680960" cy="798957"/>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global AI market reached $142 billion in 2023 and is projected to grow at a CAGR of 38.1% through 2030. Enterprise adoption is accelerating across all sectors.</a:t>
            </a:r>
            <a:endParaRPr lang="en-US" sz="1300" dirty="0"/>
          </a:p>
        </p:txBody>
      </p:sp>
      <p:sp>
        <p:nvSpPr>
          <p:cNvPr id="19" name="Shape 17"/>
          <p:cNvSpPr/>
          <p:nvPr/>
        </p:nvSpPr>
        <p:spPr>
          <a:xfrm>
            <a:off x="320040" y="4006215"/>
            <a:ext cx="8503920" cy="908685"/>
          </a:xfrm>
          <a:prstGeom prst="rect">
            <a:avLst/>
          </a:prstGeom>
          <a:solidFill>
            <a:srgbClr val="36454F">
              <a:alpha val="65000"/>
            </a:srgbClr>
          </a:solidFill>
          <a:ln w="6350">
            <a:solidFill>
              <a:srgbClr val="00BCD4"/>
            </a:solidFill>
            <a:prstDash val="solid"/>
          </a:ln>
        </p:spPr>
      </p:sp>
      <p:sp>
        <p:nvSpPr>
          <p:cNvPr id="20" name="Shape 18"/>
          <p:cNvSpPr/>
          <p:nvPr/>
        </p:nvSpPr>
        <p:spPr>
          <a:xfrm>
            <a:off x="320040" y="4006215"/>
            <a:ext cx="64008" cy="908685"/>
          </a:xfrm>
          <a:prstGeom prst="rect">
            <a:avLst/>
          </a:prstGeom>
          <a:solidFill>
            <a:srgbClr val="00BCD4"/>
          </a:solidFill>
          <a:ln w="12700">
            <a:solidFill>
              <a:srgbClr val="00BCD4"/>
            </a:solidFill>
            <a:prstDash val="solid"/>
          </a:ln>
        </p:spPr>
      </p:sp>
      <p:sp>
        <p:nvSpPr>
          <p:cNvPr id="21" name="Shape 19"/>
          <p:cNvSpPr/>
          <p:nvPr/>
        </p:nvSpPr>
        <p:spPr>
          <a:xfrm>
            <a:off x="512064" y="4277678"/>
            <a:ext cx="365760" cy="365760"/>
          </a:xfrm>
          <a:prstGeom prst="ellipse">
            <a:avLst/>
          </a:prstGeom>
          <a:solidFill>
            <a:srgbClr val="00BCD4"/>
          </a:solidFill>
          <a:ln w="12700">
            <a:solidFill>
              <a:srgbClr val="00BCD4"/>
            </a:solidFill>
            <a:prstDash val="solid"/>
          </a:ln>
        </p:spPr>
      </p:sp>
      <p:sp>
        <p:nvSpPr>
          <p:cNvPr id="22" name="Text 20"/>
          <p:cNvSpPr/>
          <p:nvPr/>
        </p:nvSpPr>
        <p:spPr>
          <a:xfrm>
            <a:off x="512064" y="4277678"/>
            <a:ext cx="365760" cy="365760"/>
          </a:xfrm>
          <a:prstGeom prst="rect">
            <a:avLst/>
          </a:prstGeom>
          <a:noFill/>
          <a:ln/>
        </p:spPr>
        <p:txBody>
          <a:bodyPr wrap="square" lIns="0" tIns="0" rIns="0" bIns="0" rtlCol="0" anchor="ctr"/>
          <a:lstStyle/>
          <a:p>
            <a:pPr algn="ctr" indent="0" marL="0">
              <a:buNone/>
            </a:pPr>
            <a:r>
              <a:rPr lang="en-US" sz="1200" b="1" dirty="0">
                <a:solidFill>
                  <a:srgbClr val="1A2227"/>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1005840" y="4061079"/>
            <a:ext cx="7680960" cy="798957"/>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AI is transforming operations across six core domains:</a:t>
            </a:r>
            <a:endParaRPr lang="en-US" sz="13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Executive Overview</a:t>
            </a:r>
            <a:endParaRPr lang="en-US" sz="2400" dirty="0"/>
          </a:p>
        </p:txBody>
      </p:sp>
      <p:sp>
        <p:nvSpPr>
          <p:cNvPr id="3" name="Text 1"/>
          <p:cNvSpPr/>
          <p:nvPr/>
        </p:nvSpPr>
        <p:spPr>
          <a:xfrm>
            <a:off x="365760" y="1005840"/>
            <a:ext cx="8503920" cy="3863340"/>
          </a:xfrm>
          <a:prstGeom prst="rect">
            <a:avLst/>
          </a:prstGeom>
          <a:noFill/>
          <a:ln/>
        </p:spPr>
        <p:txBody>
          <a:bodyPr wrap="square" lIns="0" tIns="0" rIns="0" bIns="0" rtlCol="0" anchor="t"/>
          <a:lstStyle/>
          <a:p>
            <a:pPr indent="0" marL="0">
              <a:buNone/>
            </a:pPr>
            <a:r>
              <a:rPr lang="en-US" sz="1500" dirty="0">
                <a:solidFill>
                  <a:srgbClr val="212121"/>
                </a:solidFill>
                <a:latin typeface="Calibri" pitchFamily="34" charset="0"/>
                <a:ea typeface="Calibri" pitchFamily="34" charset="-122"/>
                <a:cs typeface="Calibri" pitchFamily="34" charset="-120"/>
              </a:rPr>
              <a:t>Artificial intelligence is reshaping industries at an unprecedented pace. Organizations that embrace AI strategically stand to gain significant competitive advantages in efficiency, customer experience, and innovation. According to McKinsey, companies that fully adopt AI could capture an additional $13 trillion in economic value by 2030. Early adopters are already seeing 40% reduction in operational costs and 3x faster time-to-market for new products.</a:t>
            </a:r>
            <a:endParaRPr lang="en-US" sz="15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Market Landscape</a:t>
            </a:r>
            <a:endParaRPr lang="en-US" sz="2400" dirty="0"/>
          </a:p>
        </p:txBody>
      </p:sp>
      <p:sp>
        <p:nvSpPr>
          <p:cNvPr id="3" name="Shape 1"/>
          <p:cNvSpPr/>
          <p:nvPr/>
        </p:nvSpPr>
        <p:spPr>
          <a:xfrm>
            <a:off x="6263640" y="960120"/>
            <a:ext cx="2560320" cy="2377440"/>
          </a:xfrm>
          <a:prstGeom prst="rect">
            <a:avLst/>
          </a:prstGeom>
          <a:solidFill>
            <a:srgbClr val="36454F"/>
          </a:solidFill>
          <a:ln w="12700">
            <a:solidFill>
              <a:srgbClr val="36454F"/>
            </a:solidFill>
            <a:prstDash val="solid"/>
          </a:ln>
          <a:effectLst>
            <a:outerShdw sx="100000" sy="100000" kx="0" ky="0" algn="bl" rotWithShape="0" blurRad="127000" dist="50800" dir="8100000">
              <a:srgbClr val="000000">
                <a:alpha val="18000"/>
              </a:srgbClr>
            </a:outerShdw>
          </a:effectLst>
        </p:spPr>
      </p:sp>
      <p:sp>
        <p:nvSpPr>
          <p:cNvPr id="4" name="Shape 2"/>
          <p:cNvSpPr/>
          <p:nvPr/>
        </p:nvSpPr>
        <p:spPr>
          <a:xfrm>
            <a:off x="6263640" y="960120"/>
            <a:ext cx="2560320" cy="54864"/>
          </a:xfrm>
          <a:prstGeom prst="rect">
            <a:avLst/>
          </a:prstGeom>
          <a:solidFill>
            <a:srgbClr val="00BCD4"/>
          </a:solidFill>
          <a:ln w="12700">
            <a:solidFill>
              <a:srgbClr val="00BCD4"/>
            </a:solidFill>
            <a:prstDash val="solid"/>
          </a:ln>
        </p:spPr>
      </p:sp>
      <p:sp>
        <p:nvSpPr>
          <p:cNvPr id="5" name="Text 3"/>
          <p:cNvSpPr/>
          <p:nvPr/>
        </p:nvSpPr>
        <p:spPr>
          <a:xfrm>
            <a:off x="6263640" y="1298448"/>
            <a:ext cx="2560320" cy="914400"/>
          </a:xfrm>
          <a:prstGeom prst="rect">
            <a:avLst/>
          </a:prstGeom>
          <a:noFill/>
          <a:ln/>
        </p:spPr>
        <p:txBody>
          <a:bodyPr wrap="square" lIns="0" tIns="0" rIns="0" bIns="0" rtlCol="0" anchor="ctr"/>
          <a:lstStyle/>
          <a:p>
            <a:pPr algn="ctr" indent="0" marL="0">
              <a:buNone/>
            </a:pPr>
            <a:r>
              <a:rPr lang="en-US" sz="3200" b="1" dirty="0">
                <a:solidFill>
                  <a:srgbClr val="00BCD4"/>
                </a:solidFill>
                <a:latin typeface="Calibri" pitchFamily="34" charset="0"/>
                <a:ea typeface="Calibri" pitchFamily="34" charset="-122"/>
                <a:cs typeface="Calibri" pitchFamily="34" charset="-120"/>
              </a:rPr>
              <a:t>142 billion</a:t>
            </a:r>
            <a:endParaRPr lang="en-US" sz="3200" dirty="0"/>
          </a:p>
        </p:txBody>
      </p:sp>
      <p:sp>
        <p:nvSpPr>
          <p:cNvPr id="6" name="Text 4"/>
          <p:cNvSpPr/>
          <p:nvPr/>
        </p:nvSpPr>
        <p:spPr>
          <a:xfrm>
            <a:off x="6263640" y="2304288"/>
            <a:ext cx="2560320" cy="320040"/>
          </a:xfrm>
          <a:prstGeom prst="rect">
            <a:avLst/>
          </a:prstGeom>
          <a:noFill/>
          <a:ln/>
        </p:spPr>
        <p:txBody>
          <a:bodyPr wrap="square" lIns="0" tIns="0" rIns="0" bIns="0" rtlCol="0" anchor="ctr"/>
          <a:lstStyle/>
          <a:p>
            <a:pPr algn="ctr" indent="0" marL="0">
              <a:buNone/>
            </a:pPr>
            <a:r>
              <a:rPr lang="en-US" sz="1000" b="1" spc="200" kern="0" dirty="0">
                <a:solidFill>
                  <a:srgbClr val="607D8B"/>
                </a:solidFill>
                <a:latin typeface="Calibri" pitchFamily="34" charset="0"/>
                <a:ea typeface="Calibri" pitchFamily="34" charset="-122"/>
                <a:cs typeface="Calibri" pitchFamily="34" charset="-120"/>
              </a:rPr>
              <a:t>KEY METRIC</a:t>
            </a:r>
            <a:endParaRPr lang="en-US" sz="1000" dirty="0"/>
          </a:p>
        </p:txBody>
      </p:sp>
      <p:sp>
        <p:nvSpPr>
          <p:cNvPr id="7" name="Text 5"/>
          <p:cNvSpPr/>
          <p:nvPr/>
        </p:nvSpPr>
        <p:spPr>
          <a:xfrm>
            <a:off x="365760" y="1005840"/>
            <a:ext cx="5669280" cy="3863340"/>
          </a:xfrm>
          <a:prstGeom prst="rect">
            <a:avLst/>
          </a:prstGeom>
          <a:noFill/>
          <a:ln/>
        </p:spPr>
        <p:txBody>
          <a:bodyPr wrap="square" lIns="0" tIns="0" rIns="0" bIns="0" rtlCol="0" anchor="t"/>
          <a:lstStyle/>
          <a:p>
            <a:pPr indent="0" marL="0">
              <a:buNone/>
            </a:pPr>
            <a:r>
              <a:rPr lang="en-US" sz="1500" dirty="0">
                <a:solidFill>
                  <a:srgbClr val="212121"/>
                </a:solidFill>
                <a:latin typeface="Calibri" pitchFamily="34" charset="0"/>
                <a:ea typeface="Calibri" pitchFamily="34" charset="-122"/>
                <a:cs typeface="Calibri" pitchFamily="34" charset="-120"/>
              </a:rPr>
              <a:t>The global AI market reached $142 billion in 2023 and is projected to grow at a CAGR of 38.1% through 2030. Enterprise adoption is accelerating across all sectors.</a:t>
            </a:r>
            <a:endParaRPr lang="en-US" sz="15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Key Application Areas</a:t>
            </a:r>
            <a:endParaRPr lang="en-US" sz="2400" dirty="0"/>
          </a:p>
        </p:txBody>
      </p:sp>
      <p:sp>
        <p:nvSpPr>
          <p:cNvPr id="3" name="Shape 1"/>
          <p:cNvSpPr/>
          <p:nvPr/>
        </p:nvSpPr>
        <p:spPr>
          <a:xfrm>
            <a:off x="320040" y="1051560"/>
            <a:ext cx="2651760" cy="1789938"/>
          </a:xfrm>
          <a:prstGeom prst="rect">
            <a:avLst/>
          </a:prstGeom>
          <a:solidFill>
            <a:srgbClr val="FFFFFF"/>
          </a:solidFill>
          <a:ln w="19050">
            <a:solidFill>
              <a:srgbClr val="00BCD4"/>
            </a:solidFill>
            <a:prstDash val="solid"/>
          </a:ln>
          <a:effectLst>
            <a:outerShdw sx="100000" sy="100000" kx="0" ky="0" algn="bl" rotWithShape="0" blurRad="76200" dist="25400" dir="8100000">
              <a:srgbClr val="000000">
                <a:alpha val="9000"/>
              </a:srgbClr>
            </a:outerShdw>
          </a:effectLst>
        </p:spPr>
      </p:sp>
      <p:sp>
        <p:nvSpPr>
          <p:cNvPr id="4" name="Shape 2"/>
          <p:cNvSpPr/>
          <p:nvPr/>
        </p:nvSpPr>
        <p:spPr>
          <a:xfrm>
            <a:off x="320040" y="1051560"/>
            <a:ext cx="2651760" cy="73152"/>
          </a:xfrm>
          <a:prstGeom prst="rect">
            <a:avLst/>
          </a:prstGeom>
          <a:solidFill>
            <a:srgbClr val="00BCD4"/>
          </a:solidFill>
          <a:ln w="12700">
            <a:solidFill>
              <a:srgbClr val="00BCD4"/>
            </a:solidFill>
            <a:prstDash val="solid"/>
          </a:ln>
        </p:spPr>
      </p:sp>
      <p:sp>
        <p:nvSpPr>
          <p:cNvPr id="5" name="Shape 3"/>
          <p:cNvSpPr/>
          <p:nvPr/>
        </p:nvSpPr>
        <p:spPr>
          <a:xfrm>
            <a:off x="448056" y="1179576"/>
            <a:ext cx="347472" cy="347472"/>
          </a:xfrm>
          <a:prstGeom prst="ellipse">
            <a:avLst/>
          </a:prstGeom>
          <a:solidFill>
            <a:srgbClr val="00BCD4"/>
          </a:solidFill>
          <a:ln w="12700">
            <a:solidFill>
              <a:srgbClr val="00BCD4"/>
            </a:solidFill>
            <a:prstDash val="solid"/>
          </a:ln>
        </p:spPr>
      </p:sp>
      <p:sp>
        <p:nvSpPr>
          <p:cNvPr id="6" name="Text 4"/>
          <p:cNvSpPr/>
          <p:nvPr/>
        </p:nvSpPr>
        <p:spPr>
          <a:xfrm>
            <a:off x="44805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41148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Natural Language Processing — Customer service automation, document analysis, and real-time translation</a:t>
            </a:r>
            <a:endParaRPr lang="en-US" sz="1200" dirty="0"/>
          </a:p>
        </p:txBody>
      </p:sp>
      <p:sp>
        <p:nvSpPr>
          <p:cNvPr id="8" name="Shape 6"/>
          <p:cNvSpPr/>
          <p:nvPr/>
        </p:nvSpPr>
        <p:spPr>
          <a:xfrm>
            <a:off x="3154680" y="1051560"/>
            <a:ext cx="2651760" cy="1789938"/>
          </a:xfrm>
          <a:prstGeom prst="rect">
            <a:avLst/>
          </a:prstGeom>
          <a:solidFill>
            <a:srgbClr val="FFFFFF"/>
          </a:solidFill>
          <a:ln w="19050">
            <a:solidFill>
              <a:srgbClr val="607D8B"/>
            </a:solidFill>
            <a:prstDash val="solid"/>
          </a:ln>
          <a:effectLst>
            <a:outerShdw sx="100000" sy="100000" kx="0" ky="0" algn="bl" rotWithShape="0" blurRad="76200" dist="25400" dir="8100000">
              <a:srgbClr val="000000">
                <a:alpha val="9000"/>
              </a:srgbClr>
            </a:outerShdw>
          </a:effectLst>
        </p:spPr>
      </p:sp>
      <p:sp>
        <p:nvSpPr>
          <p:cNvPr id="9" name="Shape 7"/>
          <p:cNvSpPr/>
          <p:nvPr/>
        </p:nvSpPr>
        <p:spPr>
          <a:xfrm>
            <a:off x="3154680" y="1051560"/>
            <a:ext cx="2651760" cy="73152"/>
          </a:xfrm>
          <a:prstGeom prst="rect">
            <a:avLst/>
          </a:prstGeom>
          <a:solidFill>
            <a:srgbClr val="607D8B"/>
          </a:solidFill>
          <a:ln w="12700">
            <a:solidFill>
              <a:srgbClr val="607D8B"/>
            </a:solidFill>
            <a:prstDash val="solid"/>
          </a:ln>
        </p:spPr>
      </p:sp>
      <p:sp>
        <p:nvSpPr>
          <p:cNvPr id="10" name="Shape 8"/>
          <p:cNvSpPr/>
          <p:nvPr/>
        </p:nvSpPr>
        <p:spPr>
          <a:xfrm>
            <a:off x="3282696" y="1179576"/>
            <a:ext cx="347472" cy="347472"/>
          </a:xfrm>
          <a:prstGeom prst="ellipse">
            <a:avLst/>
          </a:prstGeom>
          <a:solidFill>
            <a:srgbClr val="607D8B"/>
          </a:solidFill>
          <a:ln w="12700">
            <a:solidFill>
              <a:srgbClr val="607D8B"/>
            </a:solidFill>
            <a:prstDash val="solid"/>
          </a:ln>
        </p:spPr>
      </p:sp>
      <p:sp>
        <p:nvSpPr>
          <p:cNvPr id="11" name="Text 9"/>
          <p:cNvSpPr/>
          <p:nvPr/>
        </p:nvSpPr>
        <p:spPr>
          <a:xfrm>
            <a:off x="328269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324612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Computer Vision — Quality control, security surveillance, and medical imaging</a:t>
            </a:r>
            <a:endParaRPr lang="en-US" sz="1200" dirty="0"/>
          </a:p>
        </p:txBody>
      </p:sp>
      <p:sp>
        <p:nvSpPr>
          <p:cNvPr id="13" name="Shape 11"/>
          <p:cNvSpPr/>
          <p:nvPr/>
        </p:nvSpPr>
        <p:spPr>
          <a:xfrm>
            <a:off x="5989320" y="1051560"/>
            <a:ext cx="2651760" cy="1789938"/>
          </a:xfrm>
          <a:prstGeom prst="rect">
            <a:avLst/>
          </a:prstGeom>
          <a:solidFill>
            <a:srgbClr val="FFFFFF"/>
          </a:solidFill>
          <a:ln w="19050">
            <a:solidFill>
              <a:srgbClr val="36454F"/>
            </a:solidFill>
            <a:prstDash val="solid"/>
          </a:ln>
          <a:effectLst>
            <a:outerShdw sx="100000" sy="100000" kx="0" ky="0" algn="bl" rotWithShape="0" blurRad="76200" dist="25400" dir="8100000">
              <a:srgbClr val="000000">
                <a:alpha val="9000"/>
              </a:srgbClr>
            </a:outerShdw>
          </a:effectLst>
        </p:spPr>
      </p:sp>
      <p:sp>
        <p:nvSpPr>
          <p:cNvPr id="14" name="Shape 12"/>
          <p:cNvSpPr/>
          <p:nvPr/>
        </p:nvSpPr>
        <p:spPr>
          <a:xfrm>
            <a:off x="5989320" y="1051560"/>
            <a:ext cx="2651760" cy="73152"/>
          </a:xfrm>
          <a:prstGeom prst="rect">
            <a:avLst/>
          </a:prstGeom>
          <a:solidFill>
            <a:srgbClr val="36454F"/>
          </a:solidFill>
          <a:ln w="12700">
            <a:solidFill>
              <a:srgbClr val="36454F"/>
            </a:solidFill>
            <a:prstDash val="solid"/>
          </a:ln>
        </p:spPr>
      </p:sp>
      <p:sp>
        <p:nvSpPr>
          <p:cNvPr id="15" name="Shape 13"/>
          <p:cNvSpPr/>
          <p:nvPr/>
        </p:nvSpPr>
        <p:spPr>
          <a:xfrm>
            <a:off x="6117336" y="1179576"/>
            <a:ext cx="347472" cy="347472"/>
          </a:xfrm>
          <a:prstGeom prst="ellipse">
            <a:avLst/>
          </a:prstGeom>
          <a:solidFill>
            <a:srgbClr val="36454F"/>
          </a:solidFill>
          <a:ln w="12700">
            <a:solidFill>
              <a:srgbClr val="36454F"/>
            </a:solidFill>
            <a:prstDash val="solid"/>
          </a:ln>
        </p:spPr>
      </p:sp>
      <p:sp>
        <p:nvSpPr>
          <p:cNvPr id="16" name="Text 14"/>
          <p:cNvSpPr/>
          <p:nvPr/>
        </p:nvSpPr>
        <p:spPr>
          <a:xfrm>
            <a:off x="611733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608076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Predictive Analytics — Demand forecasting, risk assessment, and fraud detection</a:t>
            </a:r>
            <a:endParaRPr lang="en-US" sz="1200" dirty="0"/>
          </a:p>
        </p:txBody>
      </p:sp>
      <p:sp>
        <p:nvSpPr>
          <p:cNvPr id="18" name="Shape 16"/>
          <p:cNvSpPr/>
          <p:nvPr/>
        </p:nvSpPr>
        <p:spPr>
          <a:xfrm>
            <a:off x="320040" y="3006090"/>
            <a:ext cx="2651760" cy="1789938"/>
          </a:xfrm>
          <a:prstGeom prst="rect">
            <a:avLst/>
          </a:prstGeom>
          <a:solidFill>
            <a:srgbClr val="FFFFFF"/>
          </a:solidFill>
          <a:ln w="19050">
            <a:solidFill>
              <a:srgbClr val="80CBC4"/>
            </a:solidFill>
            <a:prstDash val="solid"/>
          </a:ln>
          <a:effectLst>
            <a:outerShdw sx="100000" sy="100000" kx="0" ky="0" algn="bl" rotWithShape="0" blurRad="76200" dist="25400" dir="8100000">
              <a:srgbClr val="000000">
                <a:alpha val="9000"/>
              </a:srgbClr>
            </a:outerShdw>
          </a:effectLst>
        </p:spPr>
      </p:sp>
      <p:sp>
        <p:nvSpPr>
          <p:cNvPr id="19" name="Shape 17"/>
          <p:cNvSpPr/>
          <p:nvPr/>
        </p:nvSpPr>
        <p:spPr>
          <a:xfrm>
            <a:off x="320040" y="3006090"/>
            <a:ext cx="2651760" cy="73152"/>
          </a:xfrm>
          <a:prstGeom prst="rect">
            <a:avLst/>
          </a:prstGeom>
          <a:solidFill>
            <a:srgbClr val="80CBC4"/>
          </a:solidFill>
          <a:ln w="12700">
            <a:solidFill>
              <a:srgbClr val="80CBC4"/>
            </a:solidFill>
            <a:prstDash val="solid"/>
          </a:ln>
        </p:spPr>
      </p:sp>
      <p:sp>
        <p:nvSpPr>
          <p:cNvPr id="20" name="Shape 18"/>
          <p:cNvSpPr/>
          <p:nvPr/>
        </p:nvSpPr>
        <p:spPr>
          <a:xfrm>
            <a:off x="448056" y="3134106"/>
            <a:ext cx="347472" cy="347472"/>
          </a:xfrm>
          <a:prstGeom prst="ellipse">
            <a:avLst/>
          </a:prstGeom>
          <a:solidFill>
            <a:srgbClr val="80CBC4"/>
          </a:solidFill>
          <a:ln w="12700">
            <a:solidFill>
              <a:srgbClr val="80CBC4"/>
            </a:solidFill>
            <a:prstDash val="solid"/>
          </a:ln>
        </p:spPr>
      </p:sp>
      <p:sp>
        <p:nvSpPr>
          <p:cNvPr id="21" name="Text 19"/>
          <p:cNvSpPr/>
          <p:nvPr/>
        </p:nvSpPr>
        <p:spPr>
          <a:xfrm>
            <a:off x="448056" y="313410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411480" y="353644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Robotic Process Automation — Back-office automation, invoice processing, and compliance reporting</a:t>
            </a:r>
            <a:endParaRPr lang="en-US" sz="1200" dirty="0"/>
          </a:p>
        </p:txBody>
      </p:sp>
      <p:sp>
        <p:nvSpPr>
          <p:cNvPr id="23" name="Shape 21"/>
          <p:cNvSpPr/>
          <p:nvPr/>
        </p:nvSpPr>
        <p:spPr>
          <a:xfrm>
            <a:off x="3154680" y="3006090"/>
            <a:ext cx="2651760" cy="1789938"/>
          </a:xfrm>
          <a:prstGeom prst="rect">
            <a:avLst/>
          </a:prstGeom>
          <a:solidFill>
            <a:srgbClr val="FFFFFF"/>
          </a:solidFill>
          <a:ln w="19050">
            <a:solidFill>
              <a:srgbClr val="455A64"/>
            </a:solidFill>
            <a:prstDash val="solid"/>
          </a:ln>
          <a:effectLst>
            <a:outerShdw sx="100000" sy="100000" kx="0" ky="0" algn="bl" rotWithShape="0" blurRad="76200" dist="25400" dir="8100000">
              <a:srgbClr val="000000">
                <a:alpha val="9000"/>
              </a:srgbClr>
            </a:outerShdw>
          </a:effectLst>
        </p:spPr>
      </p:sp>
      <p:sp>
        <p:nvSpPr>
          <p:cNvPr id="24" name="Shape 22"/>
          <p:cNvSpPr/>
          <p:nvPr/>
        </p:nvSpPr>
        <p:spPr>
          <a:xfrm>
            <a:off x="3154680" y="3006090"/>
            <a:ext cx="2651760" cy="73152"/>
          </a:xfrm>
          <a:prstGeom prst="rect">
            <a:avLst/>
          </a:prstGeom>
          <a:solidFill>
            <a:srgbClr val="455A64"/>
          </a:solidFill>
          <a:ln w="12700">
            <a:solidFill>
              <a:srgbClr val="455A64"/>
            </a:solidFill>
            <a:prstDash val="solid"/>
          </a:ln>
        </p:spPr>
      </p:sp>
      <p:sp>
        <p:nvSpPr>
          <p:cNvPr id="25" name="Shape 23"/>
          <p:cNvSpPr/>
          <p:nvPr/>
        </p:nvSpPr>
        <p:spPr>
          <a:xfrm>
            <a:off x="3282696" y="3134106"/>
            <a:ext cx="347472" cy="347472"/>
          </a:xfrm>
          <a:prstGeom prst="ellipse">
            <a:avLst/>
          </a:prstGeom>
          <a:solidFill>
            <a:srgbClr val="455A64"/>
          </a:solidFill>
          <a:ln w="12700">
            <a:solidFill>
              <a:srgbClr val="455A64"/>
            </a:solidFill>
            <a:prstDash val="solid"/>
          </a:ln>
        </p:spPr>
      </p:sp>
      <p:sp>
        <p:nvSpPr>
          <p:cNvPr id="26" name="Text 24"/>
          <p:cNvSpPr/>
          <p:nvPr/>
        </p:nvSpPr>
        <p:spPr>
          <a:xfrm>
            <a:off x="3282696" y="313410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3246120" y="353644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Recommendation Systems — Personalized marketing, content delivery, and product discovery</a:t>
            </a:r>
            <a:endParaRPr lang="en-US" sz="1200" dirty="0"/>
          </a:p>
        </p:txBody>
      </p:sp>
      <p:sp>
        <p:nvSpPr>
          <p:cNvPr id="28" name="Shape 26"/>
          <p:cNvSpPr/>
          <p:nvPr/>
        </p:nvSpPr>
        <p:spPr>
          <a:xfrm>
            <a:off x="5989320" y="3006090"/>
            <a:ext cx="2651760" cy="1789938"/>
          </a:xfrm>
          <a:prstGeom prst="rect">
            <a:avLst/>
          </a:prstGeom>
          <a:solidFill>
            <a:srgbClr val="FFFFFF"/>
          </a:solidFill>
          <a:ln w="19050">
            <a:solidFill>
              <a:srgbClr val="B0BEC5"/>
            </a:solidFill>
            <a:prstDash val="solid"/>
          </a:ln>
          <a:effectLst>
            <a:outerShdw sx="100000" sy="100000" kx="0" ky="0" algn="bl" rotWithShape="0" blurRad="76200" dist="25400" dir="8100000">
              <a:srgbClr val="000000">
                <a:alpha val="9000"/>
              </a:srgbClr>
            </a:outerShdw>
          </a:effectLst>
        </p:spPr>
      </p:sp>
      <p:sp>
        <p:nvSpPr>
          <p:cNvPr id="29" name="Shape 27"/>
          <p:cNvSpPr/>
          <p:nvPr/>
        </p:nvSpPr>
        <p:spPr>
          <a:xfrm>
            <a:off x="5989320" y="3006090"/>
            <a:ext cx="2651760" cy="73152"/>
          </a:xfrm>
          <a:prstGeom prst="rect">
            <a:avLst/>
          </a:prstGeom>
          <a:solidFill>
            <a:srgbClr val="B0BEC5"/>
          </a:solidFill>
          <a:ln w="12700">
            <a:solidFill>
              <a:srgbClr val="B0BEC5"/>
            </a:solidFill>
            <a:prstDash val="solid"/>
          </a:ln>
        </p:spPr>
      </p:sp>
      <p:sp>
        <p:nvSpPr>
          <p:cNvPr id="30" name="Shape 28"/>
          <p:cNvSpPr/>
          <p:nvPr/>
        </p:nvSpPr>
        <p:spPr>
          <a:xfrm>
            <a:off x="6117336" y="3134106"/>
            <a:ext cx="347472" cy="347472"/>
          </a:xfrm>
          <a:prstGeom prst="ellipse">
            <a:avLst/>
          </a:prstGeom>
          <a:solidFill>
            <a:srgbClr val="B0BEC5"/>
          </a:solidFill>
          <a:ln w="12700">
            <a:solidFill>
              <a:srgbClr val="B0BEC5"/>
            </a:solidFill>
            <a:prstDash val="solid"/>
          </a:ln>
        </p:spPr>
      </p:sp>
      <p:sp>
        <p:nvSpPr>
          <p:cNvPr id="31" name="Text 29"/>
          <p:cNvSpPr/>
          <p:nvPr/>
        </p:nvSpPr>
        <p:spPr>
          <a:xfrm>
            <a:off x="6117336" y="313410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6080760" y="353644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Generative AI — Content creation, code generation, and synthetic data production</a:t>
            </a:r>
            <a:endParaRPr lang="en-US" sz="12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Industry Impact</a:t>
            </a:r>
            <a:endParaRPr lang="en-US" sz="2400" dirty="0"/>
          </a:p>
        </p:txBody>
      </p:sp>
      <p:sp>
        <p:nvSpPr>
          <p:cNvPr id="3" name="Shape 1"/>
          <p:cNvSpPr/>
          <p:nvPr/>
        </p:nvSpPr>
        <p:spPr>
          <a:xfrm>
            <a:off x="320040" y="1005840"/>
            <a:ext cx="4114800" cy="1794510"/>
          </a:xfrm>
          <a:prstGeom prst="rect">
            <a:avLst/>
          </a:prstGeom>
          <a:solidFill>
            <a:srgbClr val="FFFFFF"/>
          </a:solidFill>
          <a:ln w="6350">
            <a:solidFill>
              <a:srgbClr val="E5E7EB"/>
            </a:solidFill>
            <a:prstDash val="solid"/>
          </a:ln>
          <a:effectLst>
            <a:outerShdw sx="100000" sy="100000" kx="0" ky="0" algn="bl" rotWithShape="0" blurRad="76200" dist="25400" dir="8100000">
              <a:srgbClr val="000000">
                <a:alpha val="7000"/>
              </a:srgbClr>
            </a:outerShdw>
          </a:effectLst>
        </p:spPr>
      </p:sp>
      <p:sp>
        <p:nvSpPr>
          <p:cNvPr id="4" name="Shape 2"/>
          <p:cNvSpPr/>
          <p:nvPr/>
        </p:nvSpPr>
        <p:spPr>
          <a:xfrm>
            <a:off x="320040" y="1005840"/>
            <a:ext cx="82296" cy="1794510"/>
          </a:xfrm>
          <a:prstGeom prst="rect">
            <a:avLst/>
          </a:prstGeom>
          <a:solidFill>
            <a:srgbClr val="00BCD4"/>
          </a:solidFill>
          <a:ln w="12700">
            <a:solidFill>
              <a:srgbClr val="00BCD4"/>
            </a:solidFill>
            <a:prstDash val="solid"/>
          </a:ln>
        </p:spPr>
      </p:sp>
      <p:sp>
        <p:nvSpPr>
          <p:cNvPr id="5" name="Text 3"/>
          <p:cNvSpPr/>
          <p:nvPr/>
        </p:nvSpPr>
        <p:spPr>
          <a:xfrm>
            <a:off x="502920" y="1115568"/>
            <a:ext cx="3858768" cy="384048"/>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Healthcare</a:t>
            </a:r>
            <a:endParaRPr lang="en-US" sz="1500" dirty="0"/>
          </a:p>
        </p:txBody>
      </p:sp>
      <p:sp>
        <p:nvSpPr>
          <p:cNvPr id="6" name="Text 4"/>
          <p:cNvSpPr/>
          <p:nvPr/>
        </p:nvSpPr>
        <p:spPr>
          <a:xfrm>
            <a:off x="502920" y="1536192"/>
            <a:ext cx="3840480" cy="1154430"/>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AI diagnostics achieve 94.5% accuracy in radiology, surpassing average human performance. Patient wait times reduced by 32% through intelligent schedu</a:t>
            </a:r>
            <a:endParaRPr lang="en-US" sz="1200" dirty="0"/>
          </a:p>
        </p:txBody>
      </p:sp>
      <p:sp>
        <p:nvSpPr>
          <p:cNvPr id="7" name="Shape 5"/>
          <p:cNvSpPr/>
          <p:nvPr/>
        </p:nvSpPr>
        <p:spPr>
          <a:xfrm>
            <a:off x="4709160" y="1005840"/>
            <a:ext cx="4114800" cy="1794510"/>
          </a:xfrm>
          <a:prstGeom prst="rect">
            <a:avLst/>
          </a:prstGeom>
          <a:solidFill>
            <a:srgbClr val="FFFFFF"/>
          </a:solidFill>
          <a:ln w="6350">
            <a:solidFill>
              <a:srgbClr val="E5E7EB"/>
            </a:solidFill>
            <a:prstDash val="solid"/>
          </a:ln>
          <a:effectLst>
            <a:outerShdw sx="100000" sy="100000" kx="0" ky="0" algn="bl" rotWithShape="0" blurRad="76200" dist="25400" dir="8100000">
              <a:srgbClr val="000000">
                <a:alpha val="7000"/>
              </a:srgbClr>
            </a:outerShdw>
          </a:effectLst>
        </p:spPr>
      </p:sp>
      <p:sp>
        <p:nvSpPr>
          <p:cNvPr id="8" name="Shape 6"/>
          <p:cNvSpPr/>
          <p:nvPr/>
        </p:nvSpPr>
        <p:spPr>
          <a:xfrm>
            <a:off x="4709160" y="1005840"/>
            <a:ext cx="82296" cy="1794510"/>
          </a:xfrm>
          <a:prstGeom prst="rect">
            <a:avLst/>
          </a:prstGeom>
          <a:solidFill>
            <a:srgbClr val="607D8B"/>
          </a:solidFill>
          <a:ln w="12700">
            <a:solidFill>
              <a:srgbClr val="607D8B"/>
            </a:solidFill>
            <a:prstDash val="solid"/>
          </a:ln>
        </p:spPr>
      </p:sp>
      <p:sp>
        <p:nvSpPr>
          <p:cNvPr id="9" name="Text 7"/>
          <p:cNvSpPr/>
          <p:nvPr/>
        </p:nvSpPr>
        <p:spPr>
          <a:xfrm>
            <a:off x="4892040" y="1115568"/>
            <a:ext cx="3858768" cy="384048"/>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Financial Services</a:t>
            </a:r>
            <a:endParaRPr lang="en-US" sz="1500" dirty="0"/>
          </a:p>
        </p:txBody>
      </p:sp>
      <p:sp>
        <p:nvSpPr>
          <p:cNvPr id="10" name="Text 8"/>
          <p:cNvSpPr/>
          <p:nvPr/>
        </p:nvSpPr>
        <p:spPr>
          <a:xfrm>
            <a:off x="4892040" y="1536192"/>
            <a:ext cx="3840480" cy="1154430"/>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Fraud detection models save institutions an estimated $20 billion annually. Algorithmic trading now accounts for 70% of all US equity volume. Credit d</a:t>
            </a:r>
            <a:endParaRPr lang="en-US" sz="1200" dirty="0"/>
          </a:p>
        </p:txBody>
      </p:sp>
      <p:sp>
        <p:nvSpPr>
          <p:cNvPr id="11" name="Shape 9"/>
          <p:cNvSpPr/>
          <p:nvPr/>
        </p:nvSpPr>
        <p:spPr>
          <a:xfrm>
            <a:off x="320040" y="2983230"/>
            <a:ext cx="4114800" cy="1794510"/>
          </a:xfrm>
          <a:prstGeom prst="rect">
            <a:avLst/>
          </a:prstGeom>
          <a:solidFill>
            <a:srgbClr val="FFFFFF"/>
          </a:solidFill>
          <a:ln w="6350">
            <a:solidFill>
              <a:srgbClr val="E5E7EB"/>
            </a:solidFill>
            <a:prstDash val="solid"/>
          </a:ln>
          <a:effectLst>
            <a:outerShdw sx="100000" sy="100000" kx="0" ky="0" algn="bl" rotWithShape="0" blurRad="76200" dist="25400" dir="8100000">
              <a:srgbClr val="000000">
                <a:alpha val="7000"/>
              </a:srgbClr>
            </a:outerShdw>
          </a:effectLst>
        </p:spPr>
      </p:sp>
      <p:sp>
        <p:nvSpPr>
          <p:cNvPr id="12" name="Shape 10"/>
          <p:cNvSpPr/>
          <p:nvPr/>
        </p:nvSpPr>
        <p:spPr>
          <a:xfrm>
            <a:off x="320040" y="2983230"/>
            <a:ext cx="82296" cy="1794510"/>
          </a:xfrm>
          <a:prstGeom prst="rect">
            <a:avLst/>
          </a:prstGeom>
          <a:solidFill>
            <a:srgbClr val="36454F"/>
          </a:solidFill>
          <a:ln w="12700">
            <a:solidFill>
              <a:srgbClr val="36454F"/>
            </a:solidFill>
            <a:prstDash val="solid"/>
          </a:ln>
        </p:spPr>
      </p:sp>
      <p:sp>
        <p:nvSpPr>
          <p:cNvPr id="13" name="Text 11"/>
          <p:cNvSpPr/>
          <p:nvPr/>
        </p:nvSpPr>
        <p:spPr>
          <a:xfrm>
            <a:off x="502920" y="3092958"/>
            <a:ext cx="3858768" cy="384048"/>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Manufacturing</a:t>
            </a:r>
            <a:endParaRPr lang="en-US" sz="1500" dirty="0"/>
          </a:p>
        </p:txBody>
      </p:sp>
      <p:sp>
        <p:nvSpPr>
          <p:cNvPr id="14" name="Text 12"/>
          <p:cNvSpPr/>
          <p:nvPr/>
        </p:nvSpPr>
        <p:spPr>
          <a:xfrm>
            <a:off x="502920" y="3513582"/>
            <a:ext cx="3840480" cy="1154430"/>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Predictive maintenance reduces unplanned downtime by 45%. AI-powered quality inspection reduces defect rates to below 0.1%. Supply chain optimization </a:t>
            </a:r>
            <a:endParaRPr lang="en-US" sz="12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Adoption Challenges</a:t>
            </a:r>
            <a:endParaRPr lang="en-US" sz="2400" dirty="0"/>
          </a:p>
        </p:txBody>
      </p:sp>
      <p:sp>
        <p:nvSpPr>
          <p:cNvPr id="3" name="Shape 1"/>
          <p:cNvSpPr/>
          <p:nvPr/>
        </p:nvSpPr>
        <p:spPr>
          <a:xfrm>
            <a:off x="320040" y="1051560"/>
            <a:ext cx="2651760" cy="1789938"/>
          </a:xfrm>
          <a:prstGeom prst="rect">
            <a:avLst/>
          </a:prstGeom>
          <a:solidFill>
            <a:srgbClr val="FFFFFF"/>
          </a:solidFill>
          <a:ln w="19050">
            <a:solidFill>
              <a:srgbClr val="00BCD4"/>
            </a:solidFill>
            <a:prstDash val="solid"/>
          </a:ln>
          <a:effectLst>
            <a:outerShdw sx="100000" sy="100000" kx="0" ky="0" algn="bl" rotWithShape="0" blurRad="76200" dist="25400" dir="8100000">
              <a:srgbClr val="000000">
                <a:alpha val="9000"/>
              </a:srgbClr>
            </a:outerShdw>
          </a:effectLst>
        </p:spPr>
      </p:sp>
      <p:sp>
        <p:nvSpPr>
          <p:cNvPr id="4" name="Shape 2"/>
          <p:cNvSpPr/>
          <p:nvPr/>
        </p:nvSpPr>
        <p:spPr>
          <a:xfrm>
            <a:off x="320040" y="1051560"/>
            <a:ext cx="2651760" cy="73152"/>
          </a:xfrm>
          <a:prstGeom prst="rect">
            <a:avLst/>
          </a:prstGeom>
          <a:solidFill>
            <a:srgbClr val="00BCD4"/>
          </a:solidFill>
          <a:ln w="12700">
            <a:solidFill>
              <a:srgbClr val="00BCD4"/>
            </a:solidFill>
            <a:prstDash val="solid"/>
          </a:ln>
        </p:spPr>
      </p:sp>
      <p:sp>
        <p:nvSpPr>
          <p:cNvPr id="5" name="Shape 3"/>
          <p:cNvSpPr/>
          <p:nvPr/>
        </p:nvSpPr>
        <p:spPr>
          <a:xfrm>
            <a:off x="448056" y="1179576"/>
            <a:ext cx="347472" cy="347472"/>
          </a:xfrm>
          <a:prstGeom prst="ellipse">
            <a:avLst/>
          </a:prstGeom>
          <a:solidFill>
            <a:srgbClr val="00BCD4"/>
          </a:solidFill>
          <a:ln w="12700">
            <a:solidFill>
              <a:srgbClr val="00BCD4"/>
            </a:solidFill>
            <a:prstDash val="solid"/>
          </a:ln>
        </p:spPr>
      </p:sp>
      <p:sp>
        <p:nvSpPr>
          <p:cNvPr id="6" name="Text 4"/>
          <p:cNvSpPr/>
          <p:nvPr/>
        </p:nvSpPr>
        <p:spPr>
          <a:xfrm>
            <a:off x="44805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41148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Data Quality Issues — 67% of organizations cite poor data as the top barrier</a:t>
            </a:r>
            <a:endParaRPr lang="en-US" sz="1200" dirty="0"/>
          </a:p>
        </p:txBody>
      </p:sp>
      <p:sp>
        <p:nvSpPr>
          <p:cNvPr id="8" name="Shape 6"/>
          <p:cNvSpPr/>
          <p:nvPr/>
        </p:nvSpPr>
        <p:spPr>
          <a:xfrm>
            <a:off x="3154680" y="1051560"/>
            <a:ext cx="2651760" cy="1789938"/>
          </a:xfrm>
          <a:prstGeom prst="rect">
            <a:avLst/>
          </a:prstGeom>
          <a:solidFill>
            <a:srgbClr val="FFFFFF"/>
          </a:solidFill>
          <a:ln w="19050">
            <a:solidFill>
              <a:srgbClr val="607D8B"/>
            </a:solidFill>
            <a:prstDash val="solid"/>
          </a:ln>
          <a:effectLst>
            <a:outerShdw sx="100000" sy="100000" kx="0" ky="0" algn="bl" rotWithShape="0" blurRad="76200" dist="25400" dir="8100000">
              <a:srgbClr val="000000">
                <a:alpha val="9000"/>
              </a:srgbClr>
            </a:outerShdw>
          </a:effectLst>
        </p:spPr>
      </p:sp>
      <p:sp>
        <p:nvSpPr>
          <p:cNvPr id="9" name="Shape 7"/>
          <p:cNvSpPr/>
          <p:nvPr/>
        </p:nvSpPr>
        <p:spPr>
          <a:xfrm>
            <a:off x="3154680" y="1051560"/>
            <a:ext cx="2651760" cy="73152"/>
          </a:xfrm>
          <a:prstGeom prst="rect">
            <a:avLst/>
          </a:prstGeom>
          <a:solidFill>
            <a:srgbClr val="607D8B"/>
          </a:solidFill>
          <a:ln w="12700">
            <a:solidFill>
              <a:srgbClr val="607D8B"/>
            </a:solidFill>
            <a:prstDash val="solid"/>
          </a:ln>
        </p:spPr>
      </p:sp>
      <p:sp>
        <p:nvSpPr>
          <p:cNvPr id="10" name="Shape 8"/>
          <p:cNvSpPr/>
          <p:nvPr/>
        </p:nvSpPr>
        <p:spPr>
          <a:xfrm>
            <a:off x="3282696" y="1179576"/>
            <a:ext cx="347472" cy="347472"/>
          </a:xfrm>
          <a:prstGeom prst="ellipse">
            <a:avLst/>
          </a:prstGeom>
          <a:solidFill>
            <a:srgbClr val="607D8B"/>
          </a:solidFill>
          <a:ln w="12700">
            <a:solidFill>
              <a:srgbClr val="607D8B"/>
            </a:solidFill>
            <a:prstDash val="solid"/>
          </a:ln>
        </p:spPr>
      </p:sp>
      <p:sp>
        <p:nvSpPr>
          <p:cNvPr id="11" name="Text 9"/>
          <p:cNvSpPr/>
          <p:nvPr/>
        </p:nvSpPr>
        <p:spPr>
          <a:xfrm>
            <a:off x="328269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324612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Talent Shortage — Demand for AI/ML engineers exceeds supply by 3:1</a:t>
            </a:r>
            <a:endParaRPr lang="en-US" sz="1200" dirty="0"/>
          </a:p>
        </p:txBody>
      </p:sp>
      <p:sp>
        <p:nvSpPr>
          <p:cNvPr id="13" name="Shape 11"/>
          <p:cNvSpPr/>
          <p:nvPr/>
        </p:nvSpPr>
        <p:spPr>
          <a:xfrm>
            <a:off x="5989320" y="1051560"/>
            <a:ext cx="2651760" cy="1789938"/>
          </a:xfrm>
          <a:prstGeom prst="rect">
            <a:avLst/>
          </a:prstGeom>
          <a:solidFill>
            <a:srgbClr val="FFFFFF"/>
          </a:solidFill>
          <a:ln w="19050">
            <a:solidFill>
              <a:srgbClr val="36454F"/>
            </a:solidFill>
            <a:prstDash val="solid"/>
          </a:ln>
          <a:effectLst>
            <a:outerShdw sx="100000" sy="100000" kx="0" ky="0" algn="bl" rotWithShape="0" blurRad="76200" dist="25400" dir="8100000">
              <a:srgbClr val="000000">
                <a:alpha val="9000"/>
              </a:srgbClr>
            </a:outerShdw>
          </a:effectLst>
        </p:spPr>
      </p:sp>
      <p:sp>
        <p:nvSpPr>
          <p:cNvPr id="14" name="Shape 12"/>
          <p:cNvSpPr/>
          <p:nvPr/>
        </p:nvSpPr>
        <p:spPr>
          <a:xfrm>
            <a:off x="5989320" y="1051560"/>
            <a:ext cx="2651760" cy="73152"/>
          </a:xfrm>
          <a:prstGeom prst="rect">
            <a:avLst/>
          </a:prstGeom>
          <a:solidFill>
            <a:srgbClr val="36454F"/>
          </a:solidFill>
          <a:ln w="12700">
            <a:solidFill>
              <a:srgbClr val="36454F"/>
            </a:solidFill>
            <a:prstDash val="solid"/>
          </a:ln>
        </p:spPr>
      </p:sp>
      <p:sp>
        <p:nvSpPr>
          <p:cNvPr id="15" name="Shape 13"/>
          <p:cNvSpPr/>
          <p:nvPr/>
        </p:nvSpPr>
        <p:spPr>
          <a:xfrm>
            <a:off x="6117336" y="1179576"/>
            <a:ext cx="347472" cy="347472"/>
          </a:xfrm>
          <a:prstGeom prst="ellipse">
            <a:avLst/>
          </a:prstGeom>
          <a:solidFill>
            <a:srgbClr val="36454F"/>
          </a:solidFill>
          <a:ln w="12700">
            <a:solidFill>
              <a:srgbClr val="36454F"/>
            </a:solidFill>
            <a:prstDash val="solid"/>
          </a:ln>
        </p:spPr>
      </p:sp>
      <p:sp>
        <p:nvSpPr>
          <p:cNvPr id="16" name="Text 14"/>
          <p:cNvSpPr/>
          <p:nvPr/>
        </p:nvSpPr>
        <p:spPr>
          <a:xfrm>
            <a:off x="611733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608076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Integration Complexity — Legacy systems create significant integration overhead</a:t>
            </a:r>
            <a:endParaRPr lang="en-US" sz="1200" dirty="0"/>
          </a:p>
        </p:txBody>
      </p:sp>
      <p:sp>
        <p:nvSpPr>
          <p:cNvPr id="18" name="Shape 16"/>
          <p:cNvSpPr/>
          <p:nvPr/>
        </p:nvSpPr>
        <p:spPr>
          <a:xfrm>
            <a:off x="320040" y="3006090"/>
            <a:ext cx="2651760" cy="1789938"/>
          </a:xfrm>
          <a:prstGeom prst="rect">
            <a:avLst/>
          </a:prstGeom>
          <a:solidFill>
            <a:srgbClr val="FFFFFF"/>
          </a:solidFill>
          <a:ln w="19050">
            <a:solidFill>
              <a:srgbClr val="80CBC4"/>
            </a:solidFill>
            <a:prstDash val="solid"/>
          </a:ln>
          <a:effectLst>
            <a:outerShdw sx="100000" sy="100000" kx="0" ky="0" algn="bl" rotWithShape="0" blurRad="76200" dist="25400" dir="8100000">
              <a:srgbClr val="000000">
                <a:alpha val="9000"/>
              </a:srgbClr>
            </a:outerShdw>
          </a:effectLst>
        </p:spPr>
      </p:sp>
      <p:sp>
        <p:nvSpPr>
          <p:cNvPr id="19" name="Shape 17"/>
          <p:cNvSpPr/>
          <p:nvPr/>
        </p:nvSpPr>
        <p:spPr>
          <a:xfrm>
            <a:off x="320040" y="3006090"/>
            <a:ext cx="2651760" cy="73152"/>
          </a:xfrm>
          <a:prstGeom prst="rect">
            <a:avLst/>
          </a:prstGeom>
          <a:solidFill>
            <a:srgbClr val="80CBC4"/>
          </a:solidFill>
          <a:ln w="12700">
            <a:solidFill>
              <a:srgbClr val="80CBC4"/>
            </a:solidFill>
            <a:prstDash val="solid"/>
          </a:ln>
        </p:spPr>
      </p:sp>
      <p:sp>
        <p:nvSpPr>
          <p:cNvPr id="20" name="Shape 18"/>
          <p:cNvSpPr/>
          <p:nvPr/>
        </p:nvSpPr>
        <p:spPr>
          <a:xfrm>
            <a:off x="448056" y="3134106"/>
            <a:ext cx="347472" cy="347472"/>
          </a:xfrm>
          <a:prstGeom prst="ellipse">
            <a:avLst/>
          </a:prstGeom>
          <a:solidFill>
            <a:srgbClr val="80CBC4"/>
          </a:solidFill>
          <a:ln w="12700">
            <a:solidFill>
              <a:srgbClr val="80CBC4"/>
            </a:solidFill>
            <a:prstDash val="solid"/>
          </a:ln>
        </p:spPr>
      </p:sp>
      <p:sp>
        <p:nvSpPr>
          <p:cNvPr id="21" name="Text 19"/>
          <p:cNvSpPr/>
          <p:nvPr/>
        </p:nvSpPr>
        <p:spPr>
          <a:xfrm>
            <a:off x="448056" y="313410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411480" y="353644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Regulatory Uncertainty — Evolving AI regulations require adaptive governance frameworks</a:t>
            </a:r>
            <a:endParaRPr lang="en-US" sz="1200" dirty="0"/>
          </a:p>
        </p:txBody>
      </p:sp>
      <p:sp>
        <p:nvSpPr>
          <p:cNvPr id="23" name="Shape 21"/>
          <p:cNvSpPr/>
          <p:nvPr/>
        </p:nvSpPr>
        <p:spPr>
          <a:xfrm>
            <a:off x="3154680" y="3006090"/>
            <a:ext cx="2651760" cy="1789938"/>
          </a:xfrm>
          <a:prstGeom prst="rect">
            <a:avLst/>
          </a:prstGeom>
          <a:solidFill>
            <a:srgbClr val="FFFFFF"/>
          </a:solidFill>
          <a:ln w="19050">
            <a:solidFill>
              <a:srgbClr val="455A64"/>
            </a:solidFill>
            <a:prstDash val="solid"/>
          </a:ln>
          <a:effectLst>
            <a:outerShdw sx="100000" sy="100000" kx="0" ky="0" algn="bl" rotWithShape="0" blurRad="76200" dist="25400" dir="8100000">
              <a:srgbClr val="000000">
                <a:alpha val="9000"/>
              </a:srgbClr>
            </a:outerShdw>
          </a:effectLst>
        </p:spPr>
      </p:sp>
      <p:sp>
        <p:nvSpPr>
          <p:cNvPr id="24" name="Shape 22"/>
          <p:cNvSpPr/>
          <p:nvPr/>
        </p:nvSpPr>
        <p:spPr>
          <a:xfrm>
            <a:off x="3154680" y="3006090"/>
            <a:ext cx="2651760" cy="73152"/>
          </a:xfrm>
          <a:prstGeom prst="rect">
            <a:avLst/>
          </a:prstGeom>
          <a:solidFill>
            <a:srgbClr val="455A64"/>
          </a:solidFill>
          <a:ln w="12700">
            <a:solidFill>
              <a:srgbClr val="455A64"/>
            </a:solidFill>
            <a:prstDash val="solid"/>
          </a:ln>
        </p:spPr>
      </p:sp>
      <p:sp>
        <p:nvSpPr>
          <p:cNvPr id="25" name="Shape 23"/>
          <p:cNvSpPr/>
          <p:nvPr/>
        </p:nvSpPr>
        <p:spPr>
          <a:xfrm>
            <a:off x="3282696" y="3134106"/>
            <a:ext cx="347472" cy="347472"/>
          </a:xfrm>
          <a:prstGeom prst="ellipse">
            <a:avLst/>
          </a:prstGeom>
          <a:solidFill>
            <a:srgbClr val="455A64"/>
          </a:solidFill>
          <a:ln w="12700">
            <a:solidFill>
              <a:srgbClr val="455A64"/>
            </a:solidFill>
            <a:prstDash val="solid"/>
          </a:ln>
        </p:spPr>
      </p:sp>
      <p:sp>
        <p:nvSpPr>
          <p:cNvPr id="26" name="Text 24"/>
          <p:cNvSpPr/>
          <p:nvPr/>
        </p:nvSpPr>
        <p:spPr>
          <a:xfrm>
            <a:off x="3282696" y="313410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3246120" y="353644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Change Management — Employee resistance and lack of AI literacy slow adoption</a:t>
            </a:r>
            <a:endParaRPr lang="en-US" sz="12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Strategic Implementation Framework</a:t>
            </a:r>
            <a:endParaRPr lang="en-US" sz="2400" dirty="0"/>
          </a:p>
        </p:txBody>
      </p:sp>
      <p:sp>
        <p:nvSpPr>
          <p:cNvPr id="3" name="Shape 1"/>
          <p:cNvSpPr/>
          <p:nvPr/>
        </p:nvSpPr>
        <p:spPr>
          <a:xfrm>
            <a:off x="320040" y="1005840"/>
            <a:ext cx="4114800" cy="1794510"/>
          </a:xfrm>
          <a:prstGeom prst="rect">
            <a:avLst/>
          </a:prstGeom>
          <a:solidFill>
            <a:srgbClr val="FFFFFF"/>
          </a:solidFill>
          <a:ln w="6350">
            <a:solidFill>
              <a:srgbClr val="E5E7EB"/>
            </a:solidFill>
            <a:prstDash val="solid"/>
          </a:ln>
          <a:effectLst>
            <a:outerShdw sx="100000" sy="100000" kx="0" ky="0" algn="bl" rotWithShape="0" blurRad="76200" dist="25400" dir="8100000">
              <a:srgbClr val="000000">
                <a:alpha val="7000"/>
              </a:srgbClr>
            </a:outerShdw>
          </a:effectLst>
        </p:spPr>
      </p:sp>
      <p:sp>
        <p:nvSpPr>
          <p:cNvPr id="4" name="Shape 2"/>
          <p:cNvSpPr/>
          <p:nvPr/>
        </p:nvSpPr>
        <p:spPr>
          <a:xfrm>
            <a:off x="320040" y="1005840"/>
            <a:ext cx="82296" cy="1794510"/>
          </a:xfrm>
          <a:prstGeom prst="rect">
            <a:avLst/>
          </a:prstGeom>
          <a:solidFill>
            <a:srgbClr val="00BCD4"/>
          </a:solidFill>
          <a:ln w="12700">
            <a:solidFill>
              <a:srgbClr val="00BCD4"/>
            </a:solidFill>
            <a:prstDash val="solid"/>
          </a:ln>
        </p:spPr>
      </p:sp>
      <p:sp>
        <p:nvSpPr>
          <p:cNvPr id="5" name="Text 3"/>
          <p:cNvSpPr/>
          <p:nvPr/>
        </p:nvSpPr>
        <p:spPr>
          <a:xfrm>
            <a:off x="502920" y="1115568"/>
            <a:ext cx="3858768" cy="384048"/>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Phase 1: Foundation (Months 1-3)</a:t>
            </a:r>
            <a:endParaRPr lang="en-US" sz="1500" dirty="0"/>
          </a:p>
        </p:txBody>
      </p:sp>
      <p:sp>
        <p:nvSpPr>
          <p:cNvPr id="6" name="Text 4"/>
          <p:cNvSpPr/>
          <p:nvPr/>
        </p:nvSpPr>
        <p:spPr>
          <a:xfrm>
            <a:off x="502920" y="1536192"/>
            <a:ext cx="3840480" cy="1154430"/>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Establish data infrastructure, governance policies, and identify high-value use cases. Conduct AI readiness assessment across business units.</a:t>
            </a:r>
            <a:endParaRPr lang="en-US" sz="1200" dirty="0"/>
          </a:p>
        </p:txBody>
      </p:sp>
      <p:sp>
        <p:nvSpPr>
          <p:cNvPr id="7" name="Shape 5"/>
          <p:cNvSpPr/>
          <p:nvPr/>
        </p:nvSpPr>
        <p:spPr>
          <a:xfrm>
            <a:off x="4709160" y="1005840"/>
            <a:ext cx="4114800" cy="1794510"/>
          </a:xfrm>
          <a:prstGeom prst="rect">
            <a:avLst/>
          </a:prstGeom>
          <a:solidFill>
            <a:srgbClr val="FFFFFF"/>
          </a:solidFill>
          <a:ln w="6350">
            <a:solidFill>
              <a:srgbClr val="E5E7EB"/>
            </a:solidFill>
            <a:prstDash val="solid"/>
          </a:ln>
          <a:effectLst>
            <a:outerShdw sx="100000" sy="100000" kx="0" ky="0" algn="bl" rotWithShape="0" blurRad="76200" dist="25400" dir="8100000">
              <a:srgbClr val="000000">
                <a:alpha val="7000"/>
              </a:srgbClr>
            </a:outerShdw>
          </a:effectLst>
        </p:spPr>
      </p:sp>
      <p:sp>
        <p:nvSpPr>
          <p:cNvPr id="8" name="Shape 6"/>
          <p:cNvSpPr/>
          <p:nvPr/>
        </p:nvSpPr>
        <p:spPr>
          <a:xfrm>
            <a:off x="4709160" y="1005840"/>
            <a:ext cx="82296" cy="1794510"/>
          </a:xfrm>
          <a:prstGeom prst="rect">
            <a:avLst/>
          </a:prstGeom>
          <a:solidFill>
            <a:srgbClr val="607D8B"/>
          </a:solidFill>
          <a:ln w="12700">
            <a:solidFill>
              <a:srgbClr val="607D8B"/>
            </a:solidFill>
            <a:prstDash val="solid"/>
          </a:ln>
        </p:spPr>
      </p:sp>
      <p:sp>
        <p:nvSpPr>
          <p:cNvPr id="9" name="Text 7"/>
          <p:cNvSpPr/>
          <p:nvPr/>
        </p:nvSpPr>
        <p:spPr>
          <a:xfrm>
            <a:off x="4892040" y="1115568"/>
            <a:ext cx="3858768" cy="384048"/>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Phase 2: Pilot (Months 4-9)</a:t>
            </a:r>
            <a:endParaRPr lang="en-US" sz="1500" dirty="0"/>
          </a:p>
        </p:txBody>
      </p:sp>
      <p:sp>
        <p:nvSpPr>
          <p:cNvPr id="10" name="Text 8"/>
          <p:cNvSpPr/>
          <p:nvPr/>
        </p:nvSpPr>
        <p:spPr>
          <a:xfrm>
            <a:off x="4892040" y="1536192"/>
            <a:ext cx="3840480" cy="1154430"/>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Deploy 2-3 targeted AI solutions in controlled environments. Measure ROI carefully. Build internal capability through training and hiring.</a:t>
            </a:r>
            <a:endParaRPr lang="en-US" sz="1200" dirty="0"/>
          </a:p>
        </p:txBody>
      </p:sp>
      <p:sp>
        <p:nvSpPr>
          <p:cNvPr id="11" name="Shape 9"/>
          <p:cNvSpPr/>
          <p:nvPr/>
        </p:nvSpPr>
        <p:spPr>
          <a:xfrm>
            <a:off x="320040" y="2983230"/>
            <a:ext cx="4114800" cy="1794510"/>
          </a:xfrm>
          <a:prstGeom prst="rect">
            <a:avLst/>
          </a:prstGeom>
          <a:solidFill>
            <a:srgbClr val="FFFFFF"/>
          </a:solidFill>
          <a:ln w="6350">
            <a:solidFill>
              <a:srgbClr val="E5E7EB"/>
            </a:solidFill>
            <a:prstDash val="solid"/>
          </a:ln>
          <a:effectLst>
            <a:outerShdw sx="100000" sy="100000" kx="0" ky="0" algn="bl" rotWithShape="0" blurRad="76200" dist="25400" dir="8100000">
              <a:srgbClr val="000000">
                <a:alpha val="7000"/>
              </a:srgbClr>
            </a:outerShdw>
          </a:effectLst>
        </p:spPr>
      </p:sp>
      <p:sp>
        <p:nvSpPr>
          <p:cNvPr id="12" name="Shape 10"/>
          <p:cNvSpPr/>
          <p:nvPr/>
        </p:nvSpPr>
        <p:spPr>
          <a:xfrm>
            <a:off x="320040" y="2983230"/>
            <a:ext cx="82296" cy="1794510"/>
          </a:xfrm>
          <a:prstGeom prst="rect">
            <a:avLst/>
          </a:prstGeom>
          <a:solidFill>
            <a:srgbClr val="36454F"/>
          </a:solidFill>
          <a:ln w="12700">
            <a:solidFill>
              <a:srgbClr val="36454F"/>
            </a:solidFill>
            <a:prstDash val="solid"/>
          </a:ln>
        </p:spPr>
      </p:sp>
      <p:sp>
        <p:nvSpPr>
          <p:cNvPr id="13" name="Text 11"/>
          <p:cNvSpPr/>
          <p:nvPr/>
        </p:nvSpPr>
        <p:spPr>
          <a:xfrm>
            <a:off x="502920" y="3092958"/>
            <a:ext cx="3858768" cy="384048"/>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Phase 3: Scale (Months 10-18)</a:t>
            </a:r>
            <a:endParaRPr lang="en-US" sz="1500" dirty="0"/>
          </a:p>
        </p:txBody>
      </p:sp>
      <p:sp>
        <p:nvSpPr>
          <p:cNvPr id="14" name="Text 12"/>
          <p:cNvSpPr/>
          <p:nvPr/>
        </p:nvSpPr>
        <p:spPr>
          <a:xfrm>
            <a:off x="502920" y="3513582"/>
            <a:ext cx="3840480" cy="1154430"/>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Roll out successful pilots organization-wide. Integrate AI into core business processes. Establish Center of Excellence (CoE) for ongoing innovation.</a:t>
            </a:r>
            <a:endParaRPr lang="en-US" sz="12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ROI by Investment Level</a:t>
            </a:r>
            <a:endParaRPr lang="en-US" sz="24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Competitive Differentiation</a:t>
            </a:r>
            <a:endParaRPr lang="en-US" sz="2400" dirty="0"/>
          </a:p>
        </p:txBody>
      </p:sp>
      <p:sp>
        <p:nvSpPr>
          <p:cNvPr id="3" name="Shape 1"/>
          <p:cNvSpPr/>
          <p:nvPr/>
        </p:nvSpPr>
        <p:spPr>
          <a:xfrm>
            <a:off x="320040" y="1051560"/>
            <a:ext cx="2651760" cy="1789938"/>
          </a:xfrm>
          <a:prstGeom prst="rect">
            <a:avLst/>
          </a:prstGeom>
          <a:solidFill>
            <a:srgbClr val="FFFFFF"/>
          </a:solidFill>
          <a:ln w="19050">
            <a:solidFill>
              <a:srgbClr val="00BCD4"/>
            </a:solidFill>
            <a:prstDash val="solid"/>
          </a:ln>
          <a:effectLst>
            <a:outerShdw sx="100000" sy="100000" kx="0" ky="0" algn="bl" rotWithShape="0" blurRad="76200" dist="25400" dir="8100000">
              <a:srgbClr val="000000">
                <a:alpha val="9000"/>
              </a:srgbClr>
            </a:outerShdw>
          </a:effectLst>
        </p:spPr>
      </p:sp>
      <p:sp>
        <p:nvSpPr>
          <p:cNvPr id="4" name="Shape 2"/>
          <p:cNvSpPr/>
          <p:nvPr/>
        </p:nvSpPr>
        <p:spPr>
          <a:xfrm>
            <a:off x="320040" y="1051560"/>
            <a:ext cx="2651760" cy="73152"/>
          </a:xfrm>
          <a:prstGeom prst="rect">
            <a:avLst/>
          </a:prstGeom>
          <a:solidFill>
            <a:srgbClr val="00BCD4"/>
          </a:solidFill>
          <a:ln w="12700">
            <a:solidFill>
              <a:srgbClr val="00BCD4"/>
            </a:solidFill>
            <a:prstDash val="solid"/>
          </a:ln>
        </p:spPr>
      </p:sp>
      <p:sp>
        <p:nvSpPr>
          <p:cNvPr id="5" name="Shape 3"/>
          <p:cNvSpPr/>
          <p:nvPr/>
        </p:nvSpPr>
        <p:spPr>
          <a:xfrm>
            <a:off x="448056" y="1179576"/>
            <a:ext cx="347472" cy="347472"/>
          </a:xfrm>
          <a:prstGeom prst="ellipse">
            <a:avLst/>
          </a:prstGeom>
          <a:solidFill>
            <a:srgbClr val="00BCD4"/>
          </a:solidFill>
          <a:ln w="12700">
            <a:solidFill>
              <a:srgbClr val="00BCD4"/>
            </a:solidFill>
            <a:prstDash val="solid"/>
          </a:ln>
        </p:spPr>
      </p:sp>
      <p:sp>
        <p:nvSpPr>
          <p:cNvPr id="6" name="Text 4"/>
          <p:cNvSpPr/>
          <p:nvPr/>
        </p:nvSpPr>
        <p:spPr>
          <a:xfrm>
            <a:off x="44805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41148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Revenue growth: 2.3x higher</a:t>
            </a:r>
            <a:endParaRPr lang="en-US" sz="1200" dirty="0"/>
          </a:p>
        </p:txBody>
      </p:sp>
      <p:sp>
        <p:nvSpPr>
          <p:cNvPr id="8" name="Shape 6"/>
          <p:cNvSpPr/>
          <p:nvPr/>
        </p:nvSpPr>
        <p:spPr>
          <a:xfrm>
            <a:off x="3154680" y="1051560"/>
            <a:ext cx="2651760" cy="1789938"/>
          </a:xfrm>
          <a:prstGeom prst="rect">
            <a:avLst/>
          </a:prstGeom>
          <a:solidFill>
            <a:srgbClr val="FFFFFF"/>
          </a:solidFill>
          <a:ln w="19050">
            <a:solidFill>
              <a:srgbClr val="607D8B"/>
            </a:solidFill>
            <a:prstDash val="solid"/>
          </a:ln>
          <a:effectLst>
            <a:outerShdw sx="100000" sy="100000" kx="0" ky="0" algn="bl" rotWithShape="0" blurRad="76200" dist="25400" dir="8100000">
              <a:srgbClr val="000000">
                <a:alpha val="9000"/>
              </a:srgbClr>
            </a:outerShdw>
          </a:effectLst>
        </p:spPr>
      </p:sp>
      <p:sp>
        <p:nvSpPr>
          <p:cNvPr id="9" name="Shape 7"/>
          <p:cNvSpPr/>
          <p:nvPr/>
        </p:nvSpPr>
        <p:spPr>
          <a:xfrm>
            <a:off x="3154680" y="1051560"/>
            <a:ext cx="2651760" cy="73152"/>
          </a:xfrm>
          <a:prstGeom prst="rect">
            <a:avLst/>
          </a:prstGeom>
          <a:solidFill>
            <a:srgbClr val="607D8B"/>
          </a:solidFill>
          <a:ln w="12700">
            <a:solidFill>
              <a:srgbClr val="607D8B"/>
            </a:solidFill>
            <a:prstDash val="solid"/>
          </a:ln>
        </p:spPr>
      </p:sp>
      <p:sp>
        <p:nvSpPr>
          <p:cNvPr id="10" name="Shape 8"/>
          <p:cNvSpPr/>
          <p:nvPr/>
        </p:nvSpPr>
        <p:spPr>
          <a:xfrm>
            <a:off x="3282696" y="1179576"/>
            <a:ext cx="347472" cy="347472"/>
          </a:xfrm>
          <a:prstGeom prst="ellipse">
            <a:avLst/>
          </a:prstGeom>
          <a:solidFill>
            <a:srgbClr val="607D8B"/>
          </a:solidFill>
          <a:ln w="12700">
            <a:solidFill>
              <a:srgbClr val="607D8B"/>
            </a:solidFill>
            <a:prstDash val="solid"/>
          </a:ln>
        </p:spPr>
      </p:sp>
      <p:sp>
        <p:nvSpPr>
          <p:cNvPr id="11" name="Text 9"/>
          <p:cNvSpPr/>
          <p:nvPr/>
        </p:nvSpPr>
        <p:spPr>
          <a:xfrm>
            <a:off x="328269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324612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Customer satisfaction: 35% better NPS scores</a:t>
            </a:r>
            <a:endParaRPr lang="en-US" sz="1200" dirty="0"/>
          </a:p>
        </p:txBody>
      </p:sp>
      <p:sp>
        <p:nvSpPr>
          <p:cNvPr id="13" name="Shape 11"/>
          <p:cNvSpPr/>
          <p:nvPr/>
        </p:nvSpPr>
        <p:spPr>
          <a:xfrm>
            <a:off x="5989320" y="1051560"/>
            <a:ext cx="2651760" cy="1789938"/>
          </a:xfrm>
          <a:prstGeom prst="rect">
            <a:avLst/>
          </a:prstGeom>
          <a:solidFill>
            <a:srgbClr val="FFFFFF"/>
          </a:solidFill>
          <a:ln w="19050">
            <a:solidFill>
              <a:srgbClr val="36454F"/>
            </a:solidFill>
            <a:prstDash val="solid"/>
          </a:ln>
          <a:effectLst>
            <a:outerShdw sx="100000" sy="100000" kx="0" ky="0" algn="bl" rotWithShape="0" blurRad="76200" dist="25400" dir="8100000">
              <a:srgbClr val="000000">
                <a:alpha val="9000"/>
              </a:srgbClr>
            </a:outerShdw>
          </a:effectLst>
        </p:spPr>
      </p:sp>
      <p:sp>
        <p:nvSpPr>
          <p:cNvPr id="14" name="Shape 12"/>
          <p:cNvSpPr/>
          <p:nvPr/>
        </p:nvSpPr>
        <p:spPr>
          <a:xfrm>
            <a:off x="5989320" y="1051560"/>
            <a:ext cx="2651760" cy="73152"/>
          </a:xfrm>
          <a:prstGeom prst="rect">
            <a:avLst/>
          </a:prstGeom>
          <a:solidFill>
            <a:srgbClr val="36454F"/>
          </a:solidFill>
          <a:ln w="12700">
            <a:solidFill>
              <a:srgbClr val="36454F"/>
            </a:solidFill>
            <a:prstDash val="solid"/>
          </a:ln>
        </p:spPr>
      </p:sp>
      <p:sp>
        <p:nvSpPr>
          <p:cNvPr id="15" name="Shape 13"/>
          <p:cNvSpPr/>
          <p:nvPr/>
        </p:nvSpPr>
        <p:spPr>
          <a:xfrm>
            <a:off x="6117336" y="1179576"/>
            <a:ext cx="347472" cy="347472"/>
          </a:xfrm>
          <a:prstGeom prst="ellipse">
            <a:avLst/>
          </a:prstGeom>
          <a:solidFill>
            <a:srgbClr val="36454F"/>
          </a:solidFill>
          <a:ln w="12700">
            <a:solidFill>
              <a:srgbClr val="36454F"/>
            </a:solidFill>
            <a:prstDash val="solid"/>
          </a:ln>
        </p:spPr>
      </p:sp>
      <p:sp>
        <p:nvSpPr>
          <p:cNvPr id="16" name="Text 14"/>
          <p:cNvSpPr/>
          <p:nvPr/>
        </p:nvSpPr>
        <p:spPr>
          <a:xfrm>
            <a:off x="611733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608076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Employee productivity: 40% improvement</a:t>
            </a:r>
            <a:endParaRPr lang="en-US" sz="1200" dirty="0"/>
          </a:p>
        </p:txBody>
      </p:sp>
      <p:sp>
        <p:nvSpPr>
          <p:cNvPr id="18" name="Shape 16"/>
          <p:cNvSpPr/>
          <p:nvPr/>
        </p:nvSpPr>
        <p:spPr>
          <a:xfrm>
            <a:off x="320040" y="3006090"/>
            <a:ext cx="2651760" cy="1789938"/>
          </a:xfrm>
          <a:prstGeom prst="rect">
            <a:avLst/>
          </a:prstGeom>
          <a:solidFill>
            <a:srgbClr val="FFFFFF"/>
          </a:solidFill>
          <a:ln w="19050">
            <a:solidFill>
              <a:srgbClr val="80CBC4"/>
            </a:solidFill>
            <a:prstDash val="solid"/>
          </a:ln>
          <a:effectLst>
            <a:outerShdw sx="100000" sy="100000" kx="0" ky="0" algn="bl" rotWithShape="0" blurRad="76200" dist="25400" dir="8100000">
              <a:srgbClr val="000000">
                <a:alpha val="9000"/>
              </a:srgbClr>
            </a:outerShdw>
          </a:effectLst>
        </p:spPr>
      </p:sp>
      <p:sp>
        <p:nvSpPr>
          <p:cNvPr id="19" name="Shape 17"/>
          <p:cNvSpPr/>
          <p:nvPr/>
        </p:nvSpPr>
        <p:spPr>
          <a:xfrm>
            <a:off x="320040" y="3006090"/>
            <a:ext cx="2651760" cy="73152"/>
          </a:xfrm>
          <a:prstGeom prst="rect">
            <a:avLst/>
          </a:prstGeom>
          <a:solidFill>
            <a:srgbClr val="80CBC4"/>
          </a:solidFill>
          <a:ln w="12700">
            <a:solidFill>
              <a:srgbClr val="80CBC4"/>
            </a:solidFill>
            <a:prstDash val="solid"/>
          </a:ln>
        </p:spPr>
      </p:sp>
      <p:sp>
        <p:nvSpPr>
          <p:cNvPr id="20" name="Shape 18"/>
          <p:cNvSpPr/>
          <p:nvPr/>
        </p:nvSpPr>
        <p:spPr>
          <a:xfrm>
            <a:off x="448056" y="3134106"/>
            <a:ext cx="347472" cy="347472"/>
          </a:xfrm>
          <a:prstGeom prst="ellipse">
            <a:avLst/>
          </a:prstGeom>
          <a:solidFill>
            <a:srgbClr val="80CBC4"/>
          </a:solidFill>
          <a:ln w="12700">
            <a:solidFill>
              <a:srgbClr val="80CBC4"/>
            </a:solidFill>
            <a:prstDash val="solid"/>
          </a:ln>
        </p:spPr>
      </p:sp>
      <p:sp>
        <p:nvSpPr>
          <p:cNvPr id="21" name="Text 19"/>
          <p:cNvSpPr/>
          <p:nvPr/>
        </p:nvSpPr>
        <p:spPr>
          <a:xfrm>
            <a:off x="448056" y="313410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411480" y="353644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Time to market: 52% faster product launches</a:t>
            </a:r>
            <a:endParaRPr lang="en-US" sz="1200" dirty="0"/>
          </a:p>
        </p:txBody>
      </p:sp>
      <p:sp>
        <p:nvSpPr>
          <p:cNvPr id="23" name="Shape 21"/>
          <p:cNvSpPr/>
          <p:nvPr/>
        </p:nvSpPr>
        <p:spPr>
          <a:xfrm>
            <a:off x="3154680" y="3006090"/>
            <a:ext cx="2651760" cy="1789938"/>
          </a:xfrm>
          <a:prstGeom prst="rect">
            <a:avLst/>
          </a:prstGeom>
          <a:solidFill>
            <a:srgbClr val="FFFFFF"/>
          </a:solidFill>
          <a:ln w="19050">
            <a:solidFill>
              <a:srgbClr val="455A64"/>
            </a:solidFill>
            <a:prstDash val="solid"/>
          </a:ln>
          <a:effectLst>
            <a:outerShdw sx="100000" sy="100000" kx="0" ky="0" algn="bl" rotWithShape="0" blurRad="76200" dist="25400" dir="8100000">
              <a:srgbClr val="000000">
                <a:alpha val="9000"/>
              </a:srgbClr>
            </a:outerShdw>
          </a:effectLst>
        </p:spPr>
      </p:sp>
      <p:sp>
        <p:nvSpPr>
          <p:cNvPr id="24" name="Shape 22"/>
          <p:cNvSpPr/>
          <p:nvPr/>
        </p:nvSpPr>
        <p:spPr>
          <a:xfrm>
            <a:off x="3154680" y="3006090"/>
            <a:ext cx="2651760" cy="73152"/>
          </a:xfrm>
          <a:prstGeom prst="rect">
            <a:avLst/>
          </a:prstGeom>
          <a:solidFill>
            <a:srgbClr val="455A64"/>
          </a:solidFill>
          <a:ln w="12700">
            <a:solidFill>
              <a:srgbClr val="455A64"/>
            </a:solidFill>
            <a:prstDash val="solid"/>
          </a:ln>
        </p:spPr>
      </p:sp>
      <p:sp>
        <p:nvSpPr>
          <p:cNvPr id="25" name="Shape 23"/>
          <p:cNvSpPr/>
          <p:nvPr/>
        </p:nvSpPr>
        <p:spPr>
          <a:xfrm>
            <a:off x="3282696" y="3134106"/>
            <a:ext cx="347472" cy="347472"/>
          </a:xfrm>
          <a:prstGeom prst="ellipse">
            <a:avLst/>
          </a:prstGeom>
          <a:solidFill>
            <a:srgbClr val="455A64"/>
          </a:solidFill>
          <a:ln w="12700">
            <a:solidFill>
              <a:srgbClr val="455A64"/>
            </a:solidFill>
            <a:prstDash val="solid"/>
          </a:ln>
        </p:spPr>
      </p:sp>
      <p:sp>
        <p:nvSpPr>
          <p:cNvPr id="26" name="Text 24"/>
          <p:cNvSpPr/>
          <p:nvPr/>
        </p:nvSpPr>
        <p:spPr>
          <a:xfrm>
            <a:off x="3282696" y="313410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3246120" y="353644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Cost reduction: 22% lower operational costs</a:t>
            </a:r>
            <a:endParaRPr lang="en-US" sz="12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Conclusion and Recommendations</a:t>
            </a:r>
            <a:endParaRPr lang="en-US" sz="2400" dirty="0"/>
          </a:p>
        </p:txBody>
      </p:sp>
      <p:sp>
        <p:nvSpPr>
          <p:cNvPr id="3" name="Shape 1"/>
          <p:cNvSpPr/>
          <p:nvPr/>
        </p:nvSpPr>
        <p:spPr>
          <a:xfrm>
            <a:off x="320040" y="1051560"/>
            <a:ext cx="2651760" cy="1789938"/>
          </a:xfrm>
          <a:prstGeom prst="rect">
            <a:avLst/>
          </a:prstGeom>
          <a:solidFill>
            <a:srgbClr val="FFFFFF"/>
          </a:solidFill>
          <a:ln w="19050">
            <a:solidFill>
              <a:srgbClr val="00BCD4"/>
            </a:solidFill>
            <a:prstDash val="solid"/>
          </a:ln>
          <a:effectLst>
            <a:outerShdw sx="100000" sy="100000" kx="0" ky="0" algn="bl" rotWithShape="0" blurRad="76200" dist="25400" dir="8100000">
              <a:srgbClr val="000000">
                <a:alpha val="9000"/>
              </a:srgbClr>
            </a:outerShdw>
          </a:effectLst>
        </p:spPr>
      </p:sp>
      <p:sp>
        <p:nvSpPr>
          <p:cNvPr id="4" name="Shape 2"/>
          <p:cNvSpPr/>
          <p:nvPr/>
        </p:nvSpPr>
        <p:spPr>
          <a:xfrm>
            <a:off x="320040" y="1051560"/>
            <a:ext cx="2651760" cy="73152"/>
          </a:xfrm>
          <a:prstGeom prst="rect">
            <a:avLst/>
          </a:prstGeom>
          <a:solidFill>
            <a:srgbClr val="00BCD4"/>
          </a:solidFill>
          <a:ln w="12700">
            <a:solidFill>
              <a:srgbClr val="00BCD4"/>
            </a:solidFill>
            <a:prstDash val="solid"/>
          </a:ln>
        </p:spPr>
      </p:sp>
      <p:sp>
        <p:nvSpPr>
          <p:cNvPr id="5" name="Shape 3"/>
          <p:cNvSpPr/>
          <p:nvPr/>
        </p:nvSpPr>
        <p:spPr>
          <a:xfrm>
            <a:off x="448056" y="1179576"/>
            <a:ext cx="347472" cy="347472"/>
          </a:xfrm>
          <a:prstGeom prst="ellipse">
            <a:avLst/>
          </a:prstGeom>
          <a:solidFill>
            <a:srgbClr val="00BCD4"/>
          </a:solidFill>
          <a:ln w="12700">
            <a:solidFill>
              <a:srgbClr val="00BCD4"/>
            </a:solidFill>
            <a:prstDash val="solid"/>
          </a:ln>
        </p:spPr>
      </p:sp>
      <p:sp>
        <p:nvSpPr>
          <p:cNvPr id="6" name="Text 4"/>
          <p:cNvSpPr/>
          <p:nvPr/>
        </p:nvSpPr>
        <p:spPr>
          <a:xfrm>
            <a:off x="44805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41148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Conduct an enterprise-wide AI readiness assessment within 30 days</a:t>
            </a:r>
            <a:endParaRPr lang="en-US" sz="1200" dirty="0"/>
          </a:p>
        </p:txBody>
      </p:sp>
      <p:sp>
        <p:nvSpPr>
          <p:cNvPr id="8" name="Shape 6"/>
          <p:cNvSpPr/>
          <p:nvPr/>
        </p:nvSpPr>
        <p:spPr>
          <a:xfrm>
            <a:off x="3154680" y="1051560"/>
            <a:ext cx="2651760" cy="1789938"/>
          </a:xfrm>
          <a:prstGeom prst="rect">
            <a:avLst/>
          </a:prstGeom>
          <a:solidFill>
            <a:srgbClr val="FFFFFF"/>
          </a:solidFill>
          <a:ln w="19050">
            <a:solidFill>
              <a:srgbClr val="607D8B"/>
            </a:solidFill>
            <a:prstDash val="solid"/>
          </a:ln>
          <a:effectLst>
            <a:outerShdw sx="100000" sy="100000" kx="0" ky="0" algn="bl" rotWithShape="0" blurRad="76200" dist="25400" dir="8100000">
              <a:srgbClr val="000000">
                <a:alpha val="9000"/>
              </a:srgbClr>
            </a:outerShdw>
          </a:effectLst>
        </p:spPr>
      </p:sp>
      <p:sp>
        <p:nvSpPr>
          <p:cNvPr id="9" name="Shape 7"/>
          <p:cNvSpPr/>
          <p:nvPr/>
        </p:nvSpPr>
        <p:spPr>
          <a:xfrm>
            <a:off x="3154680" y="1051560"/>
            <a:ext cx="2651760" cy="73152"/>
          </a:xfrm>
          <a:prstGeom prst="rect">
            <a:avLst/>
          </a:prstGeom>
          <a:solidFill>
            <a:srgbClr val="607D8B"/>
          </a:solidFill>
          <a:ln w="12700">
            <a:solidFill>
              <a:srgbClr val="607D8B"/>
            </a:solidFill>
            <a:prstDash val="solid"/>
          </a:ln>
        </p:spPr>
      </p:sp>
      <p:sp>
        <p:nvSpPr>
          <p:cNvPr id="10" name="Shape 8"/>
          <p:cNvSpPr/>
          <p:nvPr/>
        </p:nvSpPr>
        <p:spPr>
          <a:xfrm>
            <a:off x="3282696" y="1179576"/>
            <a:ext cx="347472" cy="347472"/>
          </a:xfrm>
          <a:prstGeom prst="ellipse">
            <a:avLst/>
          </a:prstGeom>
          <a:solidFill>
            <a:srgbClr val="607D8B"/>
          </a:solidFill>
          <a:ln w="12700">
            <a:solidFill>
              <a:srgbClr val="607D8B"/>
            </a:solidFill>
            <a:prstDash val="solid"/>
          </a:ln>
        </p:spPr>
      </p:sp>
      <p:sp>
        <p:nvSpPr>
          <p:cNvPr id="11" name="Text 9"/>
          <p:cNvSpPr/>
          <p:nvPr/>
        </p:nvSpPr>
        <p:spPr>
          <a:xfrm>
            <a:off x="328269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324612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Identify and fund 3 high-impact pilot projects in Q1</a:t>
            </a:r>
            <a:endParaRPr lang="en-US" sz="1200" dirty="0"/>
          </a:p>
        </p:txBody>
      </p:sp>
      <p:sp>
        <p:nvSpPr>
          <p:cNvPr id="13" name="Shape 11"/>
          <p:cNvSpPr/>
          <p:nvPr/>
        </p:nvSpPr>
        <p:spPr>
          <a:xfrm>
            <a:off x="5989320" y="1051560"/>
            <a:ext cx="2651760" cy="1789938"/>
          </a:xfrm>
          <a:prstGeom prst="rect">
            <a:avLst/>
          </a:prstGeom>
          <a:solidFill>
            <a:srgbClr val="FFFFFF"/>
          </a:solidFill>
          <a:ln w="19050">
            <a:solidFill>
              <a:srgbClr val="36454F"/>
            </a:solidFill>
            <a:prstDash val="solid"/>
          </a:ln>
          <a:effectLst>
            <a:outerShdw sx="100000" sy="100000" kx="0" ky="0" algn="bl" rotWithShape="0" blurRad="76200" dist="25400" dir="8100000">
              <a:srgbClr val="000000">
                <a:alpha val="9000"/>
              </a:srgbClr>
            </a:outerShdw>
          </a:effectLst>
        </p:spPr>
      </p:sp>
      <p:sp>
        <p:nvSpPr>
          <p:cNvPr id="14" name="Shape 12"/>
          <p:cNvSpPr/>
          <p:nvPr/>
        </p:nvSpPr>
        <p:spPr>
          <a:xfrm>
            <a:off x="5989320" y="1051560"/>
            <a:ext cx="2651760" cy="73152"/>
          </a:xfrm>
          <a:prstGeom prst="rect">
            <a:avLst/>
          </a:prstGeom>
          <a:solidFill>
            <a:srgbClr val="36454F"/>
          </a:solidFill>
          <a:ln w="12700">
            <a:solidFill>
              <a:srgbClr val="36454F"/>
            </a:solidFill>
            <a:prstDash val="solid"/>
          </a:ln>
        </p:spPr>
      </p:sp>
      <p:sp>
        <p:nvSpPr>
          <p:cNvPr id="15" name="Shape 13"/>
          <p:cNvSpPr/>
          <p:nvPr/>
        </p:nvSpPr>
        <p:spPr>
          <a:xfrm>
            <a:off x="6117336" y="1179576"/>
            <a:ext cx="347472" cy="347472"/>
          </a:xfrm>
          <a:prstGeom prst="ellipse">
            <a:avLst/>
          </a:prstGeom>
          <a:solidFill>
            <a:srgbClr val="36454F"/>
          </a:solidFill>
          <a:ln w="12700">
            <a:solidFill>
              <a:srgbClr val="36454F"/>
            </a:solidFill>
            <a:prstDash val="solid"/>
          </a:ln>
        </p:spPr>
      </p:sp>
      <p:sp>
        <p:nvSpPr>
          <p:cNvPr id="16" name="Text 14"/>
          <p:cNvSpPr/>
          <p:nvPr/>
        </p:nvSpPr>
        <p:spPr>
          <a:xfrm>
            <a:off x="6117336" y="11795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6080760" y="158191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Recruit or appoint a Chief AI Officer to lead the transformation</a:t>
            </a:r>
            <a:endParaRPr lang="en-US" sz="1200" dirty="0"/>
          </a:p>
        </p:txBody>
      </p:sp>
      <p:sp>
        <p:nvSpPr>
          <p:cNvPr id="18" name="Shape 16"/>
          <p:cNvSpPr/>
          <p:nvPr/>
        </p:nvSpPr>
        <p:spPr>
          <a:xfrm>
            <a:off x="320040" y="3006090"/>
            <a:ext cx="2651760" cy="1789938"/>
          </a:xfrm>
          <a:prstGeom prst="rect">
            <a:avLst/>
          </a:prstGeom>
          <a:solidFill>
            <a:srgbClr val="FFFFFF"/>
          </a:solidFill>
          <a:ln w="19050">
            <a:solidFill>
              <a:srgbClr val="80CBC4"/>
            </a:solidFill>
            <a:prstDash val="solid"/>
          </a:ln>
          <a:effectLst>
            <a:outerShdw sx="100000" sy="100000" kx="0" ky="0" algn="bl" rotWithShape="0" blurRad="76200" dist="25400" dir="8100000">
              <a:srgbClr val="000000">
                <a:alpha val="9000"/>
              </a:srgbClr>
            </a:outerShdw>
          </a:effectLst>
        </p:spPr>
      </p:sp>
      <p:sp>
        <p:nvSpPr>
          <p:cNvPr id="19" name="Shape 17"/>
          <p:cNvSpPr/>
          <p:nvPr/>
        </p:nvSpPr>
        <p:spPr>
          <a:xfrm>
            <a:off x="320040" y="3006090"/>
            <a:ext cx="2651760" cy="73152"/>
          </a:xfrm>
          <a:prstGeom prst="rect">
            <a:avLst/>
          </a:prstGeom>
          <a:solidFill>
            <a:srgbClr val="80CBC4"/>
          </a:solidFill>
          <a:ln w="12700">
            <a:solidFill>
              <a:srgbClr val="80CBC4"/>
            </a:solidFill>
            <a:prstDash val="solid"/>
          </a:ln>
        </p:spPr>
      </p:sp>
      <p:sp>
        <p:nvSpPr>
          <p:cNvPr id="20" name="Shape 18"/>
          <p:cNvSpPr/>
          <p:nvPr/>
        </p:nvSpPr>
        <p:spPr>
          <a:xfrm>
            <a:off x="448056" y="3134106"/>
            <a:ext cx="347472" cy="347472"/>
          </a:xfrm>
          <a:prstGeom prst="ellipse">
            <a:avLst/>
          </a:prstGeom>
          <a:solidFill>
            <a:srgbClr val="80CBC4"/>
          </a:solidFill>
          <a:ln w="12700">
            <a:solidFill>
              <a:srgbClr val="80CBC4"/>
            </a:solidFill>
            <a:prstDash val="solid"/>
          </a:ln>
        </p:spPr>
      </p:sp>
      <p:sp>
        <p:nvSpPr>
          <p:cNvPr id="21" name="Text 19"/>
          <p:cNvSpPr/>
          <p:nvPr/>
        </p:nvSpPr>
        <p:spPr>
          <a:xfrm>
            <a:off x="448056" y="313410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411480" y="353644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Establish data governance and ethical AI policies before scaling</a:t>
            </a:r>
            <a:endParaRPr lang="en-US" sz="1200" dirty="0"/>
          </a:p>
        </p:txBody>
      </p:sp>
      <p:sp>
        <p:nvSpPr>
          <p:cNvPr id="23" name="Shape 21"/>
          <p:cNvSpPr/>
          <p:nvPr/>
        </p:nvSpPr>
        <p:spPr>
          <a:xfrm>
            <a:off x="3154680" y="3006090"/>
            <a:ext cx="2651760" cy="1789938"/>
          </a:xfrm>
          <a:prstGeom prst="rect">
            <a:avLst/>
          </a:prstGeom>
          <a:solidFill>
            <a:srgbClr val="FFFFFF"/>
          </a:solidFill>
          <a:ln w="19050">
            <a:solidFill>
              <a:srgbClr val="455A64"/>
            </a:solidFill>
            <a:prstDash val="solid"/>
          </a:ln>
          <a:effectLst>
            <a:outerShdw sx="100000" sy="100000" kx="0" ky="0" algn="bl" rotWithShape="0" blurRad="76200" dist="25400" dir="8100000">
              <a:srgbClr val="000000">
                <a:alpha val="9000"/>
              </a:srgbClr>
            </a:outerShdw>
          </a:effectLst>
        </p:spPr>
      </p:sp>
      <p:sp>
        <p:nvSpPr>
          <p:cNvPr id="24" name="Shape 22"/>
          <p:cNvSpPr/>
          <p:nvPr/>
        </p:nvSpPr>
        <p:spPr>
          <a:xfrm>
            <a:off x="3154680" y="3006090"/>
            <a:ext cx="2651760" cy="73152"/>
          </a:xfrm>
          <a:prstGeom prst="rect">
            <a:avLst/>
          </a:prstGeom>
          <a:solidFill>
            <a:srgbClr val="455A64"/>
          </a:solidFill>
          <a:ln w="12700">
            <a:solidFill>
              <a:srgbClr val="455A64"/>
            </a:solidFill>
            <a:prstDash val="solid"/>
          </a:ln>
        </p:spPr>
      </p:sp>
      <p:sp>
        <p:nvSpPr>
          <p:cNvPr id="25" name="Shape 23"/>
          <p:cNvSpPr/>
          <p:nvPr/>
        </p:nvSpPr>
        <p:spPr>
          <a:xfrm>
            <a:off x="3282696" y="3134106"/>
            <a:ext cx="347472" cy="347472"/>
          </a:xfrm>
          <a:prstGeom prst="ellipse">
            <a:avLst/>
          </a:prstGeom>
          <a:solidFill>
            <a:srgbClr val="455A64"/>
          </a:solidFill>
          <a:ln w="12700">
            <a:solidFill>
              <a:srgbClr val="455A64"/>
            </a:solidFill>
            <a:prstDash val="solid"/>
          </a:ln>
        </p:spPr>
      </p:sp>
      <p:sp>
        <p:nvSpPr>
          <p:cNvPr id="26" name="Text 24"/>
          <p:cNvSpPr/>
          <p:nvPr/>
        </p:nvSpPr>
        <p:spPr>
          <a:xfrm>
            <a:off x="3282696" y="313410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3246120" y="3536442"/>
            <a:ext cx="2468880" cy="1149858"/>
          </a:xfrm>
          <a:prstGeom prst="rect">
            <a:avLst/>
          </a:prstGeom>
          <a:noFill/>
          <a:ln/>
        </p:spPr>
        <p:txBody>
          <a:bodyPr wrap="square" lIns="0" tIns="0" rIns="0" bIns="0" rtlCol="0" anchor="t"/>
          <a:lstStyle/>
          <a:p>
            <a:pPr indent="0" marL="0">
              <a:buNone/>
            </a:pPr>
            <a:r>
              <a:rPr lang="en-US" sz="1200" dirty="0">
                <a:solidFill>
                  <a:srgbClr val="212121"/>
                </a:solidFill>
                <a:latin typeface="Calibri" pitchFamily="34" charset="0"/>
                <a:ea typeface="Calibri" pitchFamily="34" charset="-122"/>
                <a:cs typeface="Calibri" pitchFamily="34" charset="-120"/>
              </a:rPr>
              <a:t>Plan for continuous upskilling of the entire workforce</a:t>
            </a:r>
            <a:endParaRPr lang="en-US" sz="120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Market Landscape</a:t>
            </a:r>
            <a:endParaRPr lang="en-US" sz="2400" dirty="0"/>
          </a:p>
        </p:txBody>
      </p:sp>
      <p:graphicFrame>
        <p:nvGraphicFramePr>
          <p:cNvPr id="3" name="Chart 0" descr=""/>
          <p:cNvGraphicFramePr/>
          <p:nvPr/>
        </p:nvGraphicFramePr>
        <p:xfrm>
          <a:off x="320040" y="960120"/>
          <a:ext cx="539496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89320" y="960120"/>
          <a:ext cx="2834640" cy="914400"/>
        </p:xfrm>
        <a:graphic>
          <a:graphicData uri="http://schemas.openxmlformats.org/drawingml/2006/table">
            <a:tbl>
              <a:tblPr/>
              <a:tblGrid>
                <a:gridCol w="944880"/>
                <a:gridCol w="944880"/>
                <a:gridCol w="944880"/>
              </a:tblGrid>
              <a:tr h="29260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Year</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6454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Market Size ($B)</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6454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Growth (%)</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6454F"/>
                    </a:solidFill>
                  </a:tcPr>
                </a:tc>
              </a:tr>
              <a:tr h="292608">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2020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47</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2021</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68</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r>
              <a:tr h="292608">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2022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2023</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142</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49%</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r>
              <a:tr h="292608">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2024</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196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2025</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267</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r>
            </a:tbl>
          </a:graphicData>
        </a:graphic>
      </p:graphicFrame>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365760" y="73152"/>
            <a:ext cx="84124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ROI by Investment Level</a:t>
            </a:r>
            <a:endParaRPr lang="en-US" sz="2400" dirty="0"/>
          </a:p>
        </p:txBody>
      </p:sp>
      <p:graphicFrame>
        <p:nvGraphicFramePr>
          <p:cNvPr id="3" name="Chart 0" descr=""/>
          <p:cNvGraphicFramePr/>
          <p:nvPr/>
        </p:nvGraphicFramePr>
        <p:xfrm>
          <a:off x="320040" y="960120"/>
          <a:ext cx="539496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89320" y="960120"/>
          <a:ext cx="2834640" cy="914400"/>
        </p:xfrm>
        <a:graphic>
          <a:graphicData uri="http://schemas.openxmlformats.org/drawingml/2006/table">
            <a:tbl>
              <a:tblPr/>
              <a:tblGrid>
                <a:gridCol w="708660"/>
                <a:gridCol w="708660"/>
                <a:gridCol w="708660"/>
                <a:gridCol w="708660"/>
              </a:tblGrid>
              <a:tr h="29260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Investment Tier</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6454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Annual Investment</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6454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Expected ROI</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6454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Payback Period</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36454F"/>
                    </a:solidFill>
                  </a:tcPr>
                </a:tc>
              </a:tr>
              <a:tr h="292608">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Starter</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$500K</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180%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18 months</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Growth</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$2M</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240%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14 months</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r>
              <a:tr h="292608">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Enterprise</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$10M</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320%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10 months</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Transformation</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$50M+</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r" indent="0" marL="0">
                        <a:buNone/>
                      </a:pPr>
                      <a:r>
                        <a:rPr lang="en-US" sz="1000" dirty="0">
                          <a:solidFill>
                            <a:srgbClr val="212121"/>
                          </a:solidFill>
                          <a:latin typeface="Calibri" pitchFamily="34" charset="0"/>
                          <a:ea typeface="Calibri" pitchFamily="34" charset="-122"/>
                          <a:cs typeface="Calibri" pitchFamily="34" charset="-120"/>
                        </a:rPr>
                        <a:t>450%</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algn="l" indent="0" marL="0">
                        <a:buNone/>
                      </a:pPr>
                      <a:r>
                        <a:rPr lang="en-US" sz="1000" dirty="0">
                          <a:solidFill>
                            <a:srgbClr val="212121"/>
                          </a:solidFill>
                          <a:latin typeface="Calibri" pitchFamily="34" charset="0"/>
                          <a:ea typeface="Calibri" pitchFamily="34" charset="-122"/>
                          <a:cs typeface="Calibri" pitchFamily="34" charset="-120"/>
                        </a:rPr>
                        <a:t>8 months</a:t>
                      </a:r>
                      <a:endParaRPr lang="en-US" sz="10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r>
            </a:tbl>
          </a:graphicData>
        </a:graphic>
      </p:graphicFrame>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943600" y="-1097280"/>
            <a:ext cx="5029200" cy="5029200"/>
          </a:xfrm>
          <a:prstGeom prst="ellipse">
            <a:avLst/>
          </a:prstGeom>
          <a:solidFill>
            <a:srgbClr val="36454F">
              <a:alpha val="45000"/>
            </a:srgbClr>
          </a:solidFill>
          <a:ln w="12700">
            <a:solidFill>
              <a:srgbClr val="36454F">
                <a:alpha val="45000"/>
              </a:srgbClr>
            </a:solidFill>
            <a:prstDash val="solid"/>
          </a:ln>
        </p:spPr>
      </p:sp>
      <p:sp>
        <p:nvSpPr>
          <p:cNvPr id="3" name="Shape 1"/>
          <p:cNvSpPr/>
          <p:nvPr/>
        </p:nvSpPr>
        <p:spPr>
          <a:xfrm>
            <a:off x="7772400" y="2926080"/>
            <a:ext cx="2286000" cy="2286000"/>
          </a:xfrm>
          <a:prstGeom prst="ellipse">
            <a:avLst/>
          </a:prstGeom>
          <a:solidFill>
            <a:srgbClr val="00BCD4">
              <a:alpha val="30000"/>
            </a:srgbClr>
          </a:solidFill>
          <a:ln w="12700">
            <a:solidFill>
              <a:srgbClr val="00BCD4">
                <a:alpha val="30000"/>
              </a:srgbClr>
            </a:solidFill>
            <a:prstDash val="solid"/>
          </a:ln>
        </p:spPr>
      </p:sp>
      <p:sp>
        <p:nvSpPr>
          <p:cNvPr id="4" name="Text 2"/>
          <p:cNvSpPr/>
          <p:nvPr/>
        </p:nvSpPr>
        <p:spPr>
          <a:xfrm>
            <a:off x="320040" y="182880"/>
            <a:ext cx="594360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Key Takeaways</a:t>
            </a:r>
            <a:endParaRPr lang="en-US" sz="3000" dirty="0"/>
          </a:p>
        </p:txBody>
      </p:sp>
      <p:sp>
        <p:nvSpPr>
          <p:cNvPr id="5" name="Shape 3"/>
          <p:cNvSpPr/>
          <p:nvPr/>
        </p:nvSpPr>
        <p:spPr>
          <a:xfrm>
            <a:off x="320040" y="960120"/>
            <a:ext cx="2560320" cy="45720"/>
          </a:xfrm>
          <a:prstGeom prst="rect">
            <a:avLst/>
          </a:prstGeom>
          <a:solidFill>
            <a:srgbClr val="00BCD4"/>
          </a:solidFill>
          <a:ln w="12700">
            <a:solidFill>
              <a:srgbClr val="00BCD4"/>
            </a:solidFill>
            <a:prstDash val="solid"/>
          </a:ln>
        </p:spPr>
      </p:sp>
      <p:sp>
        <p:nvSpPr>
          <p:cNvPr id="6" name="Shape 4"/>
          <p:cNvSpPr/>
          <p:nvPr/>
        </p:nvSpPr>
        <p:spPr>
          <a:xfrm>
            <a:off x="320040" y="1078992"/>
            <a:ext cx="5943600" cy="699516"/>
          </a:xfrm>
          <a:prstGeom prst="rect">
            <a:avLst/>
          </a:prstGeom>
          <a:solidFill>
            <a:srgbClr val="36454F">
              <a:alpha val="45000"/>
            </a:srgbClr>
          </a:solidFill>
          <a:ln w="12700">
            <a:solidFill>
              <a:srgbClr val="FFFFFF">
                <a:alpha val="15000"/>
              </a:srgbClr>
            </a:solidFill>
            <a:prstDash val="solid"/>
          </a:ln>
        </p:spPr>
      </p:sp>
      <p:sp>
        <p:nvSpPr>
          <p:cNvPr id="7" name="Shape 5"/>
          <p:cNvSpPr/>
          <p:nvPr/>
        </p:nvSpPr>
        <p:spPr>
          <a:xfrm>
            <a:off x="438912" y="1245870"/>
            <a:ext cx="365760" cy="365760"/>
          </a:xfrm>
          <a:prstGeom prst="ellipse">
            <a:avLst/>
          </a:prstGeom>
          <a:solidFill>
            <a:srgbClr val="00BCD4"/>
          </a:solidFill>
          <a:ln w="12700">
            <a:solidFill>
              <a:srgbClr val="00BCD4"/>
            </a:solidFill>
            <a:prstDash val="solid"/>
          </a:ln>
        </p:spPr>
      </p:sp>
      <p:sp>
        <p:nvSpPr>
          <p:cNvPr id="8" name="Text 6"/>
          <p:cNvSpPr/>
          <p:nvPr/>
        </p:nvSpPr>
        <p:spPr>
          <a:xfrm>
            <a:off x="438912" y="1245870"/>
            <a:ext cx="365760" cy="365760"/>
          </a:xfrm>
          <a:prstGeom prst="rect">
            <a:avLst/>
          </a:prstGeom>
          <a:noFill/>
          <a:ln/>
        </p:spPr>
        <p:txBody>
          <a:bodyPr wrap="square" lIns="0" tIns="0" rIns="0" bIns="0" rtlCol="0" anchor="ctr"/>
          <a:lstStyle/>
          <a:p>
            <a:pPr algn="ctr" indent="0" marL="0">
              <a:buNone/>
            </a:pPr>
            <a:r>
              <a:rPr lang="en-US" sz="1200" b="1" dirty="0">
                <a:solidFill>
                  <a:srgbClr val="1A2227"/>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960120" y="1078992"/>
            <a:ext cx="5166360" cy="69951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AI transformation is not a future event — it is happening now. Organizations that delay risk falling irreparably behind.</a:t>
            </a:r>
            <a:endParaRPr lang="en-US" sz="1350" dirty="0"/>
          </a:p>
        </p:txBody>
      </p:sp>
      <p:sp>
        <p:nvSpPr>
          <p:cNvPr id="10" name="Shape 8"/>
          <p:cNvSpPr/>
          <p:nvPr/>
        </p:nvSpPr>
        <p:spPr>
          <a:xfrm>
            <a:off x="320040" y="1869948"/>
            <a:ext cx="5943600" cy="699516"/>
          </a:xfrm>
          <a:prstGeom prst="rect">
            <a:avLst/>
          </a:prstGeom>
          <a:solidFill>
            <a:srgbClr val="36454F">
              <a:alpha val="30000"/>
            </a:srgbClr>
          </a:solidFill>
          <a:ln w="12700">
            <a:solidFill>
              <a:srgbClr val="FFFFFF">
                <a:alpha val="15000"/>
              </a:srgbClr>
            </a:solidFill>
            <a:prstDash val="solid"/>
          </a:ln>
        </p:spPr>
      </p:sp>
      <p:sp>
        <p:nvSpPr>
          <p:cNvPr id="11" name="Shape 9"/>
          <p:cNvSpPr/>
          <p:nvPr/>
        </p:nvSpPr>
        <p:spPr>
          <a:xfrm>
            <a:off x="438912" y="2036826"/>
            <a:ext cx="365760" cy="365760"/>
          </a:xfrm>
          <a:prstGeom prst="ellipse">
            <a:avLst/>
          </a:prstGeom>
          <a:solidFill>
            <a:srgbClr val="00BCD4"/>
          </a:solidFill>
          <a:ln w="12700">
            <a:solidFill>
              <a:srgbClr val="00BCD4"/>
            </a:solidFill>
            <a:prstDash val="solid"/>
          </a:ln>
        </p:spPr>
      </p:sp>
      <p:sp>
        <p:nvSpPr>
          <p:cNvPr id="12" name="Text 10"/>
          <p:cNvSpPr/>
          <p:nvPr/>
        </p:nvSpPr>
        <p:spPr>
          <a:xfrm>
            <a:off x="438912" y="2036826"/>
            <a:ext cx="365760" cy="365760"/>
          </a:xfrm>
          <a:prstGeom prst="rect">
            <a:avLst/>
          </a:prstGeom>
          <a:noFill/>
          <a:ln/>
        </p:spPr>
        <p:txBody>
          <a:bodyPr wrap="square" lIns="0" tIns="0" rIns="0" bIns="0" rtlCol="0" anchor="ctr"/>
          <a:lstStyle/>
          <a:p>
            <a:pPr algn="ctr" indent="0" marL="0">
              <a:buNone/>
            </a:pPr>
            <a:r>
              <a:rPr lang="en-US" sz="1200" b="1" dirty="0">
                <a:solidFill>
                  <a:srgbClr val="1A2227"/>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960120" y="1869948"/>
            <a:ext cx="5166360" cy="69951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Conduct an enterprise-wide AI readiness assessment within 30 days</a:t>
            </a:r>
            <a:endParaRPr lang="en-US" sz="1350" dirty="0"/>
          </a:p>
        </p:txBody>
      </p:sp>
      <p:sp>
        <p:nvSpPr>
          <p:cNvPr id="14" name="Shape 12"/>
          <p:cNvSpPr/>
          <p:nvPr/>
        </p:nvSpPr>
        <p:spPr>
          <a:xfrm>
            <a:off x="320040" y="2660904"/>
            <a:ext cx="5943600" cy="699516"/>
          </a:xfrm>
          <a:prstGeom prst="rect">
            <a:avLst/>
          </a:prstGeom>
          <a:solidFill>
            <a:srgbClr val="36454F">
              <a:alpha val="45000"/>
            </a:srgbClr>
          </a:solidFill>
          <a:ln w="12700">
            <a:solidFill>
              <a:srgbClr val="FFFFFF">
                <a:alpha val="15000"/>
              </a:srgbClr>
            </a:solidFill>
            <a:prstDash val="solid"/>
          </a:ln>
        </p:spPr>
      </p:sp>
      <p:sp>
        <p:nvSpPr>
          <p:cNvPr id="15" name="Shape 13"/>
          <p:cNvSpPr/>
          <p:nvPr/>
        </p:nvSpPr>
        <p:spPr>
          <a:xfrm>
            <a:off x="438912" y="2827782"/>
            <a:ext cx="365760" cy="365760"/>
          </a:xfrm>
          <a:prstGeom prst="ellipse">
            <a:avLst/>
          </a:prstGeom>
          <a:solidFill>
            <a:srgbClr val="00BCD4"/>
          </a:solidFill>
          <a:ln w="12700">
            <a:solidFill>
              <a:srgbClr val="00BCD4"/>
            </a:solidFill>
            <a:prstDash val="solid"/>
          </a:ln>
        </p:spPr>
      </p:sp>
      <p:sp>
        <p:nvSpPr>
          <p:cNvPr id="16" name="Text 14"/>
          <p:cNvSpPr/>
          <p:nvPr/>
        </p:nvSpPr>
        <p:spPr>
          <a:xfrm>
            <a:off x="438912" y="2827782"/>
            <a:ext cx="365760" cy="365760"/>
          </a:xfrm>
          <a:prstGeom prst="rect">
            <a:avLst/>
          </a:prstGeom>
          <a:noFill/>
          <a:ln/>
        </p:spPr>
        <p:txBody>
          <a:bodyPr wrap="square" lIns="0" tIns="0" rIns="0" bIns="0" rtlCol="0" anchor="ctr"/>
          <a:lstStyle/>
          <a:p>
            <a:pPr algn="ctr" indent="0" marL="0">
              <a:buNone/>
            </a:pPr>
            <a:r>
              <a:rPr lang="en-US" sz="1200" b="1" dirty="0">
                <a:solidFill>
                  <a:srgbClr val="1A2227"/>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960120" y="2660904"/>
            <a:ext cx="5166360" cy="69951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Identify and fund 3 high-impact pilot projects in Q1</a:t>
            </a:r>
            <a:endParaRPr lang="en-US" sz="1350" dirty="0"/>
          </a:p>
        </p:txBody>
      </p:sp>
      <p:sp>
        <p:nvSpPr>
          <p:cNvPr id="18" name="Shape 16"/>
          <p:cNvSpPr/>
          <p:nvPr/>
        </p:nvSpPr>
        <p:spPr>
          <a:xfrm>
            <a:off x="320040" y="3451860"/>
            <a:ext cx="5943600" cy="699516"/>
          </a:xfrm>
          <a:prstGeom prst="rect">
            <a:avLst/>
          </a:prstGeom>
          <a:solidFill>
            <a:srgbClr val="36454F">
              <a:alpha val="30000"/>
            </a:srgbClr>
          </a:solidFill>
          <a:ln w="12700">
            <a:solidFill>
              <a:srgbClr val="FFFFFF">
                <a:alpha val="15000"/>
              </a:srgbClr>
            </a:solidFill>
            <a:prstDash val="solid"/>
          </a:ln>
        </p:spPr>
      </p:sp>
      <p:sp>
        <p:nvSpPr>
          <p:cNvPr id="19" name="Shape 17"/>
          <p:cNvSpPr/>
          <p:nvPr/>
        </p:nvSpPr>
        <p:spPr>
          <a:xfrm>
            <a:off x="438912" y="3618738"/>
            <a:ext cx="365760" cy="365760"/>
          </a:xfrm>
          <a:prstGeom prst="ellipse">
            <a:avLst/>
          </a:prstGeom>
          <a:solidFill>
            <a:srgbClr val="00BCD4"/>
          </a:solidFill>
          <a:ln w="12700">
            <a:solidFill>
              <a:srgbClr val="00BCD4"/>
            </a:solidFill>
            <a:prstDash val="solid"/>
          </a:ln>
        </p:spPr>
      </p:sp>
      <p:sp>
        <p:nvSpPr>
          <p:cNvPr id="20" name="Text 18"/>
          <p:cNvSpPr/>
          <p:nvPr/>
        </p:nvSpPr>
        <p:spPr>
          <a:xfrm>
            <a:off x="438912" y="3618738"/>
            <a:ext cx="365760" cy="365760"/>
          </a:xfrm>
          <a:prstGeom prst="rect">
            <a:avLst/>
          </a:prstGeom>
          <a:noFill/>
          <a:ln/>
        </p:spPr>
        <p:txBody>
          <a:bodyPr wrap="square" lIns="0" tIns="0" rIns="0" bIns="0" rtlCol="0" anchor="ctr"/>
          <a:lstStyle/>
          <a:p>
            <a:pPr algn="ctr" indent="0" marL="0">
              <a:buNone/>
            </a:pPr>
            <a:r>
              <a:rPr lang="en-US" sz="1200" b="1" dirty="0">
                <a:solidFill>
                  <a:srgbClr val="1A2227"/>
                </a:solidFill>
                <a:latin typeface="Calibri" pitchFamily="34" charset="0"/>
                <a:ea typeface="Calibri" pitchFamily="34" charset="-122"/>
                <a:cs typeface="Calibri" pitchFamily="34" charset="-120"/>
              </a:rPr>
              <a:t>4</a:t>
            </a:r>
            <a:endParaRPr lang="en-US" sz="1200" dirty="0"/>
          </a:p>
        </p:txBody>
      </p:sp>
      <p:sp>
        <p:nvSpPr>
          <p:cNvPr id="21" name="Text 19"/>
          <p:cNvSpPr/>
          <p:nvPr/>
        </p:nvSpPr>
        <p:spPr>
          <a:xfrm>
            <a:off x="960120" y="3451860"/>
            <a:ext cx="5166360" cy="69951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Recruit or appoint a Chief AI Officer to lead the transformation</a:t>
            </a:r>
            <a:endParaRPr lang="en-US" sz="1350" dirty="0"/>
          </a:p>
        </p:txBody>
      </p:sp>
      <p:sp>
        <p:nvSpPr>
          <p:cNvPr id="22" name="Shape 20"/>
          <p:cNvSpPr/>
          <p:nvPr/>
        </p:nvSpPr>
        <p:spPr>
          <a:xfrm>
            <a:off x="320040" y="4242816"/>
            <a:ext cx="5943600" cy="699516"/>
          </a:xfrm>
          <a:prstGeom prst="rect">
            <a:avLst/>
          </a:prstGeom>
          <a:solidFill>
            <a:srgbClr val="36454F">
              <a:alpha val="45000"/>
            </a:srgbClr>
          </a:solidFill>
          <a:ln w="12700">
            <a:solidFill>
              <a:srgbClr val="FFFFFF">
                <a:alpha val="15000"/>
              </a:srgbClr>
            </a:solidFill>
            <a:prstDash val="solid"/>
          </a:ln>
        </p:spPr>
      </p:sp>
      <p:sp>
        <p:nvSpPr>
          <p:cNvPr id="23" name="Shape 21"/>
          <p:cNvSpPr/>
          <p:nvPr/>
        </p:nvSpPr>
        <p:spPr>
          <a:xfrm>
            <a:off x="438912" y="4409694"/>
            <a:ext cx="365760" cy="365760"/>
          </a:xfrm>
          <a:prstGeom prst="ellipse">
            <a:avLst/>
          </a:prstGeom>
          <a:solidFill>
            <a:srgbClr val="00BCD4"/>
          </a:solidFill>
          <a:ln w="12700">
            <a:solidFill>
              <a:srgbClr val="00BCD4"/>
            </a:solidFill>
            <a:prstDash val="solid"/>
          </a:ln>
        </p:spPr>
      </p:sp>
      <p:sp>
        <p:nvSpPr>
          <p:cNvPr id="24" name="Text 22"/>
          <p:cNvSpPr/>
          <p:nvPr/>
        </p:nvSpPr>
        <p:spPr>
          <a:xfrm>
            <a:off x="438912" y="4409694"/>
            <a:ext cx="365760" cy="365760"/>
          </a:xfrm>
          <a:prstGeom prst="rect">
            <a:avLst/>
          </a:prstGeom>
          <a:noFill/>
          <a:ln/>
        </p:spPr>
        <p:txBody>
          <a:bodyPr wrap="square" lIns="0" tIns="0" rIns="0" bIns="0" rtlCol="0" anchor="ctr"/>
          <a:lstStyle/>
          <a:p>
            <a:pPr algn="ctr" indent="0" marL="0">
              <a:buNone/>
            </a:pPr>
            <a:r>
              <a:rPr lang="en-US" sz="1200" b="1" dirty="0">
                <a:solidFill>
                  <a:srgbClr val="1A2227"/>
                </a:solidFill>
                <a:latin typeface="Calibri" pitchFamily="34" charset="0"/>
                <a:ea typeface="Calibri" pitchFamily="34" charset="-122"/>
                <a:cs typeface="Calibri" pitchFamily="34" charset="-120"/>
              </a:rPr>
              <a:t>5</a:t>
            </a:r>
            <a:endParaRPr lang="en-US" sz="1200" dirty="0"/>
          </a:p>
        </p:txBody>
      </p:sp>
      <p:sp>
        <p:nvSpPr>
          <p:cNvPr id="25" name="Text 23"/>
          <p:cNvSpPr/>
          <p:nvPr/>
        </p:nvSpPr>
        <p:spPr>
          <a:xfrm>
            <a:off x="960120" y="4242816"/>
            <a:ext cx="5166360" cy="69951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Establish data governance and ethical AI policies before scaling</a:t>
            </a:r>
            <a:endParaRPr lang="en-US" sz="1350" dirty="0"/>
          </a:p>
        </p:txBody>
      </p:sp>
      <p:sp>
        <p:nvSpPr>
          <p:cNvPr id="25" name="Slide Number Placeholder 0"/>
          <p:cNvSpPr>
            <a:spLocks noGrp="1"/>
          </p:cNvSpPr>
          <p:nvPr>
            <p:ph type="sldNum" sz="quarter" idx="4294967295"/>
          </p:nvPr>
        </p:nvSpPr>
        <p:spPr>
          <a:xfrm>
            <a:off x="8503920" y="4988052"/>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607D8B"/>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in Modern Business</dc:title>
  <dc:subject>Artificial Intelligence in Modern Business</dc:subject>
  <dc:creator>md2pptx</dc:creator>
  <cp:lastModifiedBy>md2pptx</cp:lastModifiedBy>
  <cp:revision>1</cp:revision>
  <dcterms:created xsi:type="dcterms:W3CDTF">2026-04-15T12:24:43Z</dcterms:created>
  <dcterms:modified xsi:type="dcterms:W3CDTF">2026-04-15T12:24:43Z</dcterms:modified>
</cp:coreProperties>
</file>