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 (GtCO2)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Energy</c:v>
                  </c:pt>
                  <c:pt idx="1">
                    <c:v>Transport</c:v>
                  </c:pt>
                  <c:pt idx="2">
                    <c:v>Industry</c:v>
                  </c:pt>
                  <c:pt idx="3">
                    <c:v>Agriculture</c:v>
                  </c:pt>
                  <c:pt idx="4">
                    <c:v>Buildings</c:v>
                  </c:pt>
                  <c:pt idx="5">
                    <c:v>Waste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14.2</c:v>
                </c:pt>
                <c:pt idx="1">
                  <c:v>7.8</c:v>
                </c:pt>
                <c:pt idx="2">
                  <c:v>9.4</c:v>
                </c:pt>
                <c:pt idx="3">
                  <c:v>5.9</c:v>
                </c:pt>
                <c:pt idx="4">
                  <c:v>3</c:v>
                </c:pt>
                <c:pt idx="5">
                  <c:v>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Total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Energy</c:v>
                  </c:pt>
                  <c:pt idx="1">
                    <c:v>Transport</c:v>
                  </c:pt>
                  <c:pt idx="2">
                    <c:v>Industry</c:v>
                  </c:pt>
                  <c:pt idx="3">
                    <c:v>Agriculture</c:v>
                  </c:pt>
                  <c:pt idx="4">
                    <c:v>Buildings</c:v>
                  </c:pt>
                  <c:pt idx="5">
                    <c:v>Waste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</c:v>
                </c:pt>
                <c:pt idx="1">
                  <c:v>19</c:v>
                </c:pt>
                <c:pt idx="2">
                  <c:v>23</c:v>
                </c:pt>
                <c:pt idx="3">
                  <c:v>14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Year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bubble3D val="0"/>
            <c:spPr>
              <a:solidFill>
                <a:srgbClr val="7B8CDE"/>
              </a:solidFill>
              <a:effectLst/>
            </c:spPr>
          </c:dPt>
          <c:dPt>
            <c:idx val="3"/>
            <c:bubble3D val="0"/>
            <c:spPr>
              <a:solidFill>
                <a:srgbClr val="A8D8EA"/>
              </a:solidFill>
              <a:effectLst/>
            </c:spPr>
          </c:dPt>
          <c:dPt>
            <c:idx val="4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Microsoft</c:v>
                </c:pt>
                <c:pt idx="1">
                  <c:v>Apple</c:v>
                </c:pt>
                <c:pt idx="2">
                  <c:v>Amazon</c:v>
                </c:pt>
                <c:pt idx="3">
                  <c:v>BP</c:v>
                </c:pt>
                <c:pt idx="4">
                  <c:v>Unilever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2030</c:v>
                </c:pt>
                <c:pt idx="1">
                  <c:v>2030</c:v>
                </c:pt>
                <c:pt idx="2">
                  <c:v>2040</c:v>
                </c:pt>
                <c:pt idx="3">
                  <c:v>2050</c:v>
                </c:pt>
                <c:pt idx="4">
                  <c:v>2039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COVER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02920" y="137160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502920" y="292608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02920" y="13716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Sustainability Report 2024</a:t>
            </a:r>
            <a:endParaRPr lang="en-US" sz="4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02920" y="2926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corporate progress on net-zero commitments, renewable energy adoption, and ESG performance across major industries.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24128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Imperative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Progress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9152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5915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359152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by Sector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026664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26664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2666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026664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ESG Performance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024128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24128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2412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1024128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Pricing Mechanisms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691640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691640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6916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1691640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Commitments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2359152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59152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35915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66360" y="2359152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 Transition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3026664"/>
            <a:ext cx="3886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26664"/>
            <a:ext cx="384048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02666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66360" y="3026664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Path Forward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8503920" cy="908685"/>
          </a:xfrm>
          <a:prstGeom prst="rect">
            <a:avLst/>
          </a:prstGeom>
          <a:solidFill>
            <a:srgbClr val="1E2761">
              <a:alpha val="6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908685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277303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7730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060704"/>
            <a:ext cx="7680960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corporate progress on net-zero commitments, renewable energy adoption, and ESG performance across major industries.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05965"/>
            <a:ext cx="8503920" cy="908685"/>
          </a:xfrm>
          <a:prstGeom prst="rect">
            <a:avLst/>
          </a:prstGeom>
          <a:solidFill>
            <a:srgbClr val="1E2761">
              <a:alpha val="6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05965"/>
            <a:ext cx="64008" cy="908685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2277428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2774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60829"/>
            <a:ext cx="7680960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temperatures have risen 1.2°C above pre-industrial levels. The IPCC warns that limiting warming to 1.5°C requires cutting emissions by 45% by 2030 and reaching net-zero by 2050. Every year of delay narrows the window and raises the cost of action.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006090"/>
            <a:ext cx="8503920" cy="908685"/>
          </a:xfrm>
          <a:prstGeom prst="rect">
            <a:avLst/>
          </a:prstGeom>
          <a:solidFill>
            <a:srgbClr val="1E2761">
              <a:alpha val="6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06090"/>
            <a:ext cx="64008" cy="908685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3277553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7755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060954"/>
            <a:ext cx="7680960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solar capacity surpassed 1.6 terawatts in 2023, enough to power over 400 million homes. The cost of utility-scale solar has dropped 89% since 2010, making it the cheapest electricity source in history.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006215"/>
            <a:ext cx="8503920" cy="908685"/>
          </a:xfrm>
          <a:prstGeom prst="rect">
            <a:avLst/>
          </a:prstGeom>
          <a:solidFill>
            <a:srgbClr val="1E2761">
              <a:alpha val="6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006215"/>
            <a:ext cx="64008" cy="908685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4277678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42776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061079"/>
            <a:ext cx="7680960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wind capacity is expected to reach 380 GW by 2030. Leading nations include China (310 GW installed), USA (145 GW), and Germany (68 GW).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Imperative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87552"/>
            <a:ext cx="8503920" cy="2560320"/>
          </a:xfrm>
          <a:prstGeom prst="rect">
            <a:avLst/>
          </a:prstGeom>
          <a:solidFill>
            <a:srgbClr val="1E2761">
              <a:alpha val="75000"/>
            </a:srgbClr>
          </a:solidFill>
          <a:ln w="1524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841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68680" y="1115568"/>
            <a:ext cx="7772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the first generation to feel the impact of climate change and the last generation that can do something about it." — Former U.S. President Barack Obama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3703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temperatures have risen 1.2°C above pre-industrial levels. The IPCC warns that limiting warming to 1.5°C requires cutting emissions by 45% by 2030 and reaching net-zero by 2050. Every year of 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Progress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179451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82296" cy="179451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8404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solar capacity surpassed 1.6 terawatts in 2023, enough to power over 400 million homes. The cost of utility-scale solar has dropped 89% since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179451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82296" cy="179451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1556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536192"/>
            <a:ext cx="38404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wind capacity is expected to reach 380 GW by 2030. Leading nations include China (310 GW installed), USA (145 GW), and Germany (68 GW).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83230"/>
            <a:ext cx="4114800" cy="179451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83230"/>
            <a:ext cx="82296" cy="179451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9295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513582"/>
            <a:ext cx="38404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costs have fallen 97% in the last three decades. Grid-scale storage deployments grew 80% in 2023 alone, enabling greater renewable pen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by Sector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ESG Performance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51560"/>
            <a:ext cx="26517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" y="1179576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Carbon footprint, water usage, waste reduction, biodiversity 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51560"/>
            <a:ext cx="265176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1179576"/>
            <a:ext cx="347472" cy="34747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— Employee wellbeing, diversity &amp; inclusion, community investment, supply chain ethics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7B8C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51560"/>
            <a:ext cx="2651760" cy="73152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179576"/>
            <a:ext cx="347472" cy="347472"/>
          </a:xfrm>
          <a:prstGeom prst="ellipse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Board diversity, executive compensation, transparency, anti-corruption policies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0609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06090"/>
            <a:ext cx="2651760" cy="7315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" y="3134106"/>
            <a:ext cx="347472" cy="347472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31341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53644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GRI, SASB, TCFD, and upcoming ISSB standards alignment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Pricing Mechanisms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3771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82296" cy="37719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Markets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8404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Emissions Trading System (ETS) covers 40% of EU greenhouse gas emissions. Carbon prices reached €100/tonne in 2023 for the first time. Voluntar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3771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82296" cy="37719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1556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Taxes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536192"/>
            <a:ext cx="38404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Forty-six countries now operate carbon taxes or ETS schemes covering 23% of global emissions. Revenue from carbon pricing exceeded $95 billion in 2022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Commitments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 Transition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51560"/>
            <a:ext cx="26517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" y="1179576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Product-as-a-service models replacing single ownership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51560"/>
            <a:ext cx="265176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1179576"/>
            <a:ext cx="347472" cy="34747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symbiosis — one company's waste becomes another's input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7B8C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51560"/>
            <a:ext cx="2651760" cy="73152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179576"/>
            <a:ext cx="347472" cy="347472"/>
          </a:xfrm>
          <a:prstGeom prst="ellipse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agriculture rebuilding soil carbon and biodiversity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0609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06090"/>
            <a:ext cx="2651760" cy="7315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" y="3134106"/>
            <a:ext cx="347472" cy="347472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31341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53644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mining recovering rare earth metals from electronics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Path Forward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51560"/>
            <a:ext cx="26517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" y="1179576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the phase-out of coal power plants globally — deadline 2030 for OECD nations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51560"/>
            <a:ext cx="265176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1179576"/>
            <a:ext cx="347472" cy="34747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green hydrogen production to decarbonize hard-to-abate sectors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7B8C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51560"/>
            <a:ext cx="2651760" cy="73152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179576"/>
            <a:ext cx="347472" cy="347472"/>
          </a:xfrm>
          <a:prstGeom prst="ellipse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158191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 $2.4 trillion annually in climate finance for developing nations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0609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06090"/>
            <a:ext cx="2651760" cy="7315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" y="3134106"/>
            <a:ext cx="347472" cy="347472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31341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53644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carbon disclosure for all publicly listed companies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3006090"/>
            <a:ext cx="2651760" cy="178993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006090"/>
            <a:ext cx="2651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82696" y="313410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31341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536442"/>
            <a:ext cx="246888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nature-based solutions to capture 10 GtCO2 per year by 2030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by Sector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96012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960120"/>
          <a:ext cx="2834640" cy="914400"/>
        </p:xfrm>
        <a:graphic>
          <a:graphicData uri="http://schemas.openxmlformats.org/drawingml/2006/table">
            <a:tbl>
              <a:tblPr/>
              <a:tblGrid>
                <a:gridCol w="708660"/>
                <a:gridCol w="708660"/>
                <a:gridCol w="708660"/>
                <a:gridCol w="7086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 (GtCO2)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Commitments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96012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960120"/>
          <a:ext cx="2834640" cy="914400"/>
        </p:xfrm>
        <a:graphic>
          <a:graphicData uri="http://schemas.openxmlformats.org/drawingml/2006/table">
            <a:tbl>
              <a:tblPr/>
              <a:tblGrid>
                <a:gridCol w="708660"/>
                <a:gridCol w="708660"/>
                <a:gridCol w="708660"/>
                <a:gridCol w="7086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Unilever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E2761">
              <a:alpha val="45000"/>
            </a:srgbClr>
          </a:solidFill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56032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5943600" cy="699516"/>
          </a:xfrm>
          <a:prstGeom prst="rect">
            <a:avLst/>
          </a:prstGeom>
          <a:solidFill>
            <a:srgbClr val="1E2761">
              <a:alpha val="4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245870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458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078992"/>
            <a:ext cx="51663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to a sustainable economy is accelerating — but not fast enough. The gap between pledges and action remains significant.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1869948"/>
            <a:ext cx="5943600" cy="699516"/>
          </a:xfrm>
          <a:prstGeom prst="rect">
            <a:avLst/>
          </a:prstGeom>
          <a:solidFill>
            <a:srgbClr val="1E2761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036826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368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69948"/>
            <a:ext cx="51663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the phase-out of coal power plants globally — deadline 2030 for OECD nations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0040" y="2660904"/>
            <a:ext cx="5943600" cy="699516"/>
          </a:xfrm>
          <a:prstGeom prst="rect">
            <a:avLst/>
          </a:prstGeom>
          <a:solidFill>
            <a:srgbClr val="1E2761">
              <a:alpha val="4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82778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8277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60904"/>
            <a:ext cx="51663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green hydrogen production to decarbonize hard-to-abate sectors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20040" y="3451860"/>
            <a:ext cx="5943600" cy="699516"/>
          </a:xfrm>
          <a:prstGeom prst="rect">
            <a:avLst/>
          </a:prstGeom>
          <a:solidFill>
            <a:srgbClr val="1E2761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618738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61873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451860"/>
            <a:ext cx="51663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 **$2.4 trillion** annually in climate finance for developing nations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0040" y="4242816"/>
            <a:ext cx="5943600" cy="699516"/>
          </a:xfrm>
          <a:prstGeom prst="rect">
            <a:avLst/>
          </a:prstGeom>
          <a:solidFill>
            <a:srgbClr val="1E2761">
              <a:alpha val="4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4409694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4096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242816"/>
            <a:ext cx="51663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carbon disclosure for all publicly listed companies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8805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Sustainability Report 2024</dc:title>
  <dc:subject>Global Sustainability Report 2024</dc:subject>
  <dc:creator>md2pptx</dc:creator>
  <cp:lastModifiedBy>md2pptx</cp:lastModifiedBy>
  <cp:revision>1</cp:revision>
  <dcterms:created xsi:type="dcterms:W3CDTF">2026-04-15T12:24:43Z</dcterms:created>
  <dcterms:modified xsi:type="dcterms:W3CDTF">2026-04-15T12:24:43Z</dcterms:modified>
</cp:coreProperties>
</file>