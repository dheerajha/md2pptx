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 ($B)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8CD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D8E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C63F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Solar &amp; Wind</c:v>
                  </c:pt>
                  <c:pt idx="1">
                    <c:v>EVs &amp; Batteries</c:v>
                  </c:pt>
                  <c:pt idx="2">
                    <c:v>Green Hydrogen</c:v>
                  </c:pt>
                  <c:pt idx="3">
                    <c:v>Carbon Capture</c:v>
                  </c:pt>
                  <c:pt idx="4">
                    <c:v>Sustainable Agriculture</c:v>
                  </c:pt>
                  <c:pt idx="5">
                    <c:v>Ocean &amp; Blue Economy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480</c:v>
                </c:pt>
                <c:pt idx="1">
                  <c:v>310</c:v>
                </c:pt>
                <c:pt idx="2">
                  <c:v>45</c:v>
                </c:pt>
                <c:pt idx="3">
                  <c:v>12</c:v>
                </c:pt>
                <c:pt idx="4">
                  <c:v>28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Sales (M)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8CD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D8E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China</c:v>
                  </c:pt>
                  <c:pt idx="1">
                    <c:v>Europe</c:v>
                  </c:pt>
                  <c:pt idx="2">
                    <c:v>North America</c:v>
                  </c:pt>
                  <c:pt idx="3">
                    <c:v>Rest of World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</c:v>
                </c:pt>
                <c:pt idx="1">
                  <c:v>3.2</c:v>
                </c:pt>
                <c:pt idx="2">
                  <c:v>1.7</c:v>
                </c:pt>
                <c:pt idx="3">
                  <c:v>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Technology Investment Report 2024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the flow of capital into clean energy, carbon capture, and sustainable infrastructure worldwide.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4747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34747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by Sector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68880"/>
            <a:ext cx="34747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688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34747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108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Wind: The Dominant Force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88720"/>
            <a:ext cx="34747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887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1188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 &amp; Batteries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82880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828800"/>
            <a:ext cx="34747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82880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1828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Hydrogen: Emerging Opportunity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46888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468880"/>
            <a:ext cx="34747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4688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2468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Challenges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10896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108960"/>
            <a:ext cx="34747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10896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57800" y="3108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&amp; Recommendations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138160" cy="833247"/>
          </a:xfrm>
          <a:prstGeom prst="rect">
            <a:avLst/>
          </a:prstGeom>
          <a:solidFill>
            <a:srgbClr val="0D1B4B">
              <a:alpha val="60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833247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07008"/>
            <a:ext cx="7863840" cy="705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the flow of capital into clean energy, carbon capture, and sustainable infrastructure worldwide.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85975"/>
            <a:ext cx="8138160" cy="833247"/>
          </a:xfrm>
          <a:prstGeom prst="rect">
            <a:avLst/>
          </a:prstGeom>
          <a:solidFill>
            <a:srgbClr val="0D1B4B">
              <a:alpha val="60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85975"/>
            <a:ext cx="54864" cy="833247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9983"/>
            <a:ext cx="7863840" cy="705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climate tech investment reached $1.8 trillion in 2023, marking the third consecutive year of record-breaking capital deployment. Despite macroeconomic headwinds, the sector shows remarkable resilience driven by policy tailwinds…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28950"/>
            <a:ext cx="8138160" cy="833247"/>
          </a:xfrm>
          <a:prstGeom prst="rect">
            <a:avLst/>
          </a:prstGeom>
          <a:solidFill>
            <a:srgbClr val="0D1B4B">
              <a:alpha val="60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028950"/>
            <a:ext cx="54864" cy="833247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92958"/>
            <a:ext cx="7863840" cy="705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forces are accelerating climate tech deployment at unprecedented scale: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71925"/>
            <a:ext cx="8138160" cy="833247"/>
          </a:xfrm>
          <a:prstGeom prst="rect">
            <a:avLst/>
          </a:prstGeom>
          <a:solidFill>
            <a:srgbClr val="0D1B4B">
              <a:alpha val="60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71925"/>
            <a:ext cx="54864" cy="833247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35933"/>
            <a:ext cx="7863840" cy="705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**Policy momentum** — The US IRA committed $369B to clean energy; EU Green Deal targets €1T by 2030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92240" y="1051560"/>
            <a:ext cx="228600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0" y="1234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trillion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9224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852160" cy="358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climate tech investment reached $1.8 trillion in 2023, marking the third consecutive year of record-breaking capital deployment. Despite macroeconomic headwinds, the sector shows remarkable resilience driven by policy tailwinds from the US Inflation Reduction Act and the EU Green Deal.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by Sector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212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98448"/>
            <a:ext cx="320040" cy="3200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momentum — The US IRA committed $369B to clean energy; EU Green Deal targets €1T by 2030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69920" y="118872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69920" y="1188720"/>
            <a:ext cx="262128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7080" y="1298448"/>
            <a:ext cx="320040" cy="3200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708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9648" y="166420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deflation — Solar LCOE fell 90% in the last decade; battery costs down 97% since 2010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74080" y="118872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C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74080" y="1188720"/>
            <a:ext cx="2621280" cy="64008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1240" y="1298448"/>
            <a:ext cx="320040" cy="320040"/>
          </a:xfrm>
          <a:prstGeom prst="ellipse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124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3808" y="166420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commitments — Over 7,000 companies have set net-zero targets covering $40T in revenue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2895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28950"/>
            <a:ext cx="2621280" cy="64008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38678"/>
            <a:ext cx="320040" cy="32004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3867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50443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security — The Russia-Ukraine conflict exposed fossil fuel dependency, boosting alternatives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Wind: The Dominant Force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are witnessing the fastest energy transition in human history. The economics are now irreversible." — BloombergNEF, 2024 Energy Transition Report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and wind together captured 35% of all new power capacity globally in 2023. For the first time, renewables added more capacity than all fossil fuel sources combined. China alone installed 217 GW 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 &amp; Batteries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92240" y="1051560"/>
            <a:ext cx="228600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0" y="1234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9224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852160" cy="358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 crossed the 20% global market share threshold in 2023, five years ahead of most forecasts. Battery energy density has doubled in the past seven years while costs plummeted.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Hydrogen: Emerging Opportunity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92240" y="1051560"/>
            <a:ext cx="228600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0" y="1234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9224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852160" cy="358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investment more than doubled in 2023, driven by industrial decarbonization needs. Green hydrogen — produced via renewable-powered electrolysis — is targeting hard-to-abate sectors that electricity alone cannot reach. Target applications include: steel manufacturing, maritime shipping, aviation fuel, and chemical feedstocks. Over 1,400 green hydrogen projects are in various stages of development globally, with combined capacity of 270 GW by 2030.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Challenges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212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98448"/>
            <a:ext cx="320040" cy="3200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constraints — Critical mineral shortages (lithium, cobalt, rare earths) threaten scalin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69920" y="118872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69920" y="1188720"/>
            <a:ext cx="262128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7080" y="1298448"/>
            <a:ext cx="320040" cy="3200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708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9648" y="166420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integration — Intermittency of renewables requires massive storage and grid upgrade investment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74080" y="118872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C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74080" y="1188720"/>
            <a:ext cx="2621280" cy="64008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1240" y="1298448"/>
            <a:ext cx="320040" cy="320040"/>
          </a:xfrm>
          <a:prstGeom prst="ellipse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124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3808" y="166420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Permitting bottlenecks — US renewable projects face average 5-year permitting delays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2895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28950"/>
            <a:ext cx="2621280" cy="64008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38678"/>
            <a:ext cx="320040" cy="32004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3867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50443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costs — Higher interest rates have increased the cost of capital-intensive clean energy by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69920" y="302895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69920" y="3028950"/>
            <a:ext cx="26212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07080" y="3138678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07080" y="313867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9648" y="350443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risk — Policy reversals in key markets (US, UK) create investment uncertainty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212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98448"/>
            <a:ext cx="320040" cy="3200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Long-duration energy storage (target: $50-100B annual investment needed)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69920" y="118872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69920" y="1188720"/>
            <a:ext cx="262128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7080" y="1298448"/>
            <a:ext cx="320040" cy="3200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708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9648" y="166420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modernization and transmission infrastructure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74080" y="118872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C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74080" y="1188720"/>
            <a:ext cx="2621280" cy="64008"/>
          </a:xfrm>
          <a:prstGeom prst="rect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1240" y="1298448"/>
            <a:ext cx="320040" cy="320040"/>
          </a:xfrm>
          <a:prstGeom prst="ellipse">
            <a:avLst/>
          </a:prstGeom>
          <a:solidFill>
            <a:srgbClr val="7B8CDE"/>
          </a:solidFill>
          <a:ln w="12700">
            <a:solidFill>
              <a:srgbClr val="7B8C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124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3808" y="166420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decarbonization — green steel, green cement, green chemicals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28950"/>
            <a:ext cx="2621280" cy="1657350"/>
          </a:xfrm>
          <a:prstGeom prst="rect">
            <a:avLst/>
          </a:prstGeom>
          <a:solidFill>
            <a:srgbClr val="FFFFFF"/>
          </a:solidFill>
          <a:ln w="19050">
            <a:solidFill>
              <a:srgbClr val="A8D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28950"/>
            <a:ext cx="2621280" cy="64008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38678"/>
            <a:ext cx="320040" cy="32004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3867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504438"/>
            <a:ext cx="24018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technologies — water security, climate-resilient agriculture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by Sector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97280"/>
          <a:ext cx="2834640" cy="914400"/>
        </p:xfrm>
        <a:graphic>
          <a:graphicData uri="http://schemas.openxmlformats.org/drawingml/2006/table">
            <a:tbl>
              <a:tblPr/>
              <a:tblGrid>
                <a:gridCol w="708660"/>
                <a:gridCol w="708660"/>
                <a:gridCol w="708660"/>
                <a:gridCol w="7086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&amp; Wind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EVs &amp; Batteries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Hydrogen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Capture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Sustainable Agriculture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 &amp; Blue 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 &amp; Batteries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97280"/>
          <a:ext cx="2834640" cy="914400"/>
        </p:xfrm>
        <a:graphic>
          <a:graphicData uri="http://schemas.openxmlformats.org/drawingml/2006/table">
            <a:tbl>
              <a:tblPr/>
              <a:tblGrid>
                <a:gridCol w="944880"/>
                <a:gridCol w="944880"/>
                <a:gridCol w="94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Sales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of World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2761">
              <a:alpha val="50000"/>
            </a:srgbClr>
          </a:solidFill>
          <a:ln w="12700">
            <a:solidFill>
              <a:srgbClr val="1E276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5598"/>
            <a:ext cx="329184" cy="3291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55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7315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is clear: climate tech is transitioning from a niche sector to the dominant investment theme of the 21st century.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9978"/>
            <a:ext cx="329184" cy="3291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997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43100"/>
            <a:ext cx="7315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Long-duration energy storage (target: $50-100B annual investment needed)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64358"/>
            <a:ext cx="329184" cy="3291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643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697480"/>
            <a:ext cx="7315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modernization and transmission infrastructure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18738"/>
            <a:ext cx="329184" cy="3291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187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451860"/>
            <a:ext cx="7315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decarbonization — green steel, green cement, green chemicals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373118"/>
            <a:ext cx="329184" cy="3291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7311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206240"/>
            <a:ext cx="7315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technologies — water security, climate-resilient agriculture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Technology Investment Report 2024</dc:title>
  <dc:subject>PptxGenJS Presentation</dc:subject>
  <dc:creator>md2pptx</dc:creator>
  <cp:lastModifiedBy>md2pptx</cp:lastModifiedBy>
  <cp:revision>1</cp:revision>
  <dcterms:created xsi:type="dcterms:W3CDTF">2026-04-10T09:11:02Z</dcterms:created>
  <dcterms:modified xsi:type="dcterms:W3CDTF">2026-04-10T09:11:02Z</dcterms:modified>
</cp:coreProperties>
</file>